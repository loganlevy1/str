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TR/brand/logos/full/Full 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2377440" cy="6209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6517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DE8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PARTNERSHIP PROPOSAL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30632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BFA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Financing Layer Built for STR Insights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8920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Kenny Bedwell, by Logan Reese Levy, Loan Officer at Cliffco Mortgage Bankers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6080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7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Cliffco, Inc.  ·  NMLS #65328  ·  Equal Housing Lender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WE ARE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36 years getting families home — especially the ones other banks turned away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5272888" cy="1554480"/>
          </a:xfrm>
          <a:prstGeom prst="roundRect">
            <a:avLst>
              <a:gd name="adj" fmla="val 7059"/>
            </a:avLst>
          </a:prstGeom>
          <a:solidFill>
            <a:srgbClr val="F0EE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56032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vision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971800"/>
            <a:ext cx="4632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the lender every family — and every investor — wishes they'd called first.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78728" y="2331720"/>
            <a:ext cx="5272888" cy="1554480"/>
          </a:xfrm>
          <a:prstGeom prst="roundRect">
            <a:avLst>
              <a:gd name="adj" fmla="val 7059"/>
            </a:avLst>
          </a:prstGeom>
          <a:solidFill>
            <a:srgbClr val="F0EEF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98768" y="256032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mission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98768" y="2971800"/>
            <a:ext cx="4632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get people home and get deals closed. We grow their net worth — and self-worth — along the way.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206240"/>
            <a:ext cx="3454298" cy="594360"/>
          </a:xfrm>
          <a:prstGeom prst="roundRect">
            <a:avLst>
              <a:gd name="adj" fmla="val 49231"/>
            </a:avLst>
          </a:prstGeom>
          <a:solidFill>
            <a:srgbClr val="BDE8F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206240"/>
            <a:ext cx="34542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mortgage bank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68698" y="4206240"/>
            <a:ext cx="3454298" cy="594360"/>
          </a:xfrm>
          <a:prstGeom prst="roundRect">
            <a:avLst>
              <a:gd name="adj" fmla="val 49231"/>
            </a:avLst>
          </a:prstGeom>
          <a:solidFill>
            <a:srgbClr val="BDE8F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68698" y="4206240"/>
            <a:ext cx="34542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Licensed in 35 states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97317" y="4206240"/>
            <a:ext cx="3454298" cy="594360"/>
          </a:xfrm>
          <a:prstGeom prst="roundRect">
            <a:avLst>
              <a:gd name="adj" fmla="val 49231"/>
            </a:avLst>
          </a:prstGeom>
          <a:solidFill>
            <a:srgbClr val="BDE8F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97317" y="4206240"/>
            <a:ext cx="34542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hands on every file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 Mortgage Bankers × STR Insights</a:t>
            </a:r>
            <a:endParaRPr lang="en-US" sz="1100" dirty="0"/>
          </a:p>
        </p:txBody>
      </p:sp>
      <p:pic>
        <p:nvPicPr>
          <p:cNvPr id="17" name="Image 0" descr="/home/user/STR/brand/logos/icon/Icon 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6291072"/>
            <a:ext cx="292608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DE8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WE'VE DONE THIS BEFORE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BFA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already do this successfully with educators and creators just like you.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BDE8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$100M+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30632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9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loan volume in the last 9 months, with borrowers from every kind of background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6052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9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work with real estate investing educators and their communities nationwide — financing their students with investment property, second home, and DSCR loans across every kind of borrower background. That track record is why we're reaching out directly to you.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349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DE8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That's exactly what we want to build with STR Insights.</a:t>
            </a:r>
            <a:endParaRPr lang="en-US" sz="2000" dirty="0"/>
          </a:p>
        </p:txBody>
      </p:sp>
      <p:pic>
        <p:nvPicPr>
          <p:cNvPr id="8" name="Image 0" descr="/home/user/STR/brand/logos/icon/Icon 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6291072"/>
            <a:ext cx="292608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YOU ARE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Kenny Bedwell built the data layer underneath STR investing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5740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3D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former Citibank financial-research analyst, Kenny co-hosts the STRonomics podcast with Bill Faeth and built STR Insights, a data and underwriting tool investors use to pick markets and size deals before they ever write an offer. He's based in the Buffalo/Niagara Falls, NY area and speaks at events like the STR Wealth Conference.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3337560"/>
            <a:ext cx="3423818" cy="2011680"/>
          </a:xfrm>
          <a:prstGeom prst="roundRect">
            <a:avLst>
              <a:gd name="adj" fmla="val 5455"/>
            </a:avLst>
          </a:prstGeom>
          <a:solidFill>
            <a:srgbClr val="F0EE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3557016"/>
            <a:ext cx="29117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NY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4206240"/>
            <a:ext cx="291175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D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base: Buffalo/Niagara Falls, New York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3938" y="3337560"/>
            <a:ext cx="3423818" cy="2011680"/>
          </a:xfrm>
          <a:prstGeom prst="roundRect">
            <a:avLst>
              <a:gd name="adj" fmla="val 5455"/>
            </a:avLst>
          </a:prstGeom>
          <a:solidFill>
            <a:srgbClr val="F0EE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39970" y="3557016"/>
            <a:ext cx="29117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Ex-Citibank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4639970" y="4206240"/>
            <a:ext cx="291175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D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in financial research &amp; analytics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27797" y="3337560"/>
            <a:ext cx="3423818" cy="2011680"/>
          </a:xfrm>
          <a:prstGeom prst="roundRect">
            <a:avLst>
              <a:gd name="adj" fmla="val 5455"/>
            </a:avLst>
          </a:prstGeom>
          <a:solidFill>
            <a:srgbClr val="F0EEF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83829" y="3557016"/>
            <a:ext cx="29117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Data-first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8383829" y="4206240"/>
            <a:ext cx="291175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D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 Insights helps investors underwrite deals before they buy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 Mortgage Bankers × STR Insights</a:t>
            </a:r>
            <a:endParaRPr lang="en-US" sz="1100" dirty="0"/>
          </a:p>
        </p:txBody>
      </p:sp>
      <p:pic>
        <p:nvPicPr>
          <p:cNvPr id="15" name="Image 0" descr="/home/user/STR/brand/logos/icon/Icon 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6291072"/>
            <a:ext cx="292608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OPPORTUNITY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tool already answers 'should I buy this deal?' — we answer 'how do I pay for it?'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5740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3D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 Insights users are doing the underwriting work before anyone else in the market — which means they know the exact numbers on a deal before they ever call a lender. That's the perfect moment to hand them a real DSCR quote instead of a guess.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3154680"/>
            <a:ext cx="5272888" cy="1691640"/>
          </a:xfrm>
          <a:prstGeom prst="roundRect">
            <a:avLst>
              <a:gd name="adj" fmla="val 6486"/>
            </a:avLst>
          </a:prstGeom>
          <a:solidFill>
            <a:srgbClr val="F0EEF1"/>
          </a:solidFill>
          <a:ln w="12700">
            <a:solidFill>
              <a:srgbClr val="E3E0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338328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794760"/>
            <a:ext cx="4632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D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 Insights helps investors size a deal's numbers — but stops short of what the actual financing looks like.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3154680"/>
            <a:ext cx="5272888" cy="1691640"/>
          </a:xfrm>
          <a:prstGeom prst="roundRect">
            <a:avLst>
              <a:gd name="adj" fmla="val 6486"/>
            </a:avLst>
          </a:prstGeom>
          <a:solidFill>
            <a:srgbClr val="6633C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98768" y="338328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FA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the market's headed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598768" y="3794760"/>
            <a:ext cx="4632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tools are becoming the new front door for serious investors — the next step is pairing the data with real loan terms, not just projections.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12064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Nobody's wired real financing numbers into STR market-selection data yet.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 Mortgage Bankers × STR Insights</a:t>
            </a:r>
            <a:endParaRPr lang="en-US" sz="1100" dirty="0"/>
          </a:p>
        </p:txBody>
      </p:sp>
      <p:pic>
        <p:nvPicPr>
          <p:cNvPr id="13" name="Image 0" descr="/home/user/STR/brand/logos/icon/Icon 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6291072"/>
            <a:ext cx="292608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BRING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financing built for how your audience actually qualifies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2522144" cy="2331720"/>
          </a:xfrm>
          <a:prstGeom prst="roundRect">
            <a:avLst>
              <a:gd name="adj" fmla="val 3922"/>
            </a:avLst>
          </a:prstGeom>
          <a:solidFill>
            <a:srgbClr val="0D0D0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2587752"/>
            <a:ext cx="2119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BDE8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Property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383280"/>
            <a:ext cx="2119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9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or refinance rental property, from a first door to a growing portfolio.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36544" y="2331720"/>
            <a:ext cx="2522144" cy="2331720"/>
          </a:xfrm>
          <a:prstGeom prst="roundRect">
            <a:avLst>
              <a:gd name="adj" fmla="val 3922"/>
            </a:avLst>
          </a:prstGeom>
          <a:solidFill>
            <a:srgbClr val="0D0D0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37712" y="2587752"/>
            <a:ext cx="2119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BDE8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DSCR Loans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3637712" y="3383280"/>
            <a:ext cx="2119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9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 off the property's cash flow, not personal income or tax returns.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3008" y="2331720"/>
            <a:ext cx="2522144" cy="2331720"/>
          </a:xfrm>
          <a:prstGeom prst="roundRect">
            <a:avLst>
              <a:gd name="adj" fmla="val 3922"/>
            </a:avLst>
          </a:prstGeom>
          <a:solidFill>
            <a:srgbClr val="0D0D0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34176" y="2587752"/>
            <a:ext cx="2119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BDE8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Second Home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34176" y="3383280"/>
            <a:ext cx="2119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9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buyers diversifying into second-home and vacation-market purchases.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29471" y="2331720"/>
            <a:ext cx="2522144" cy="2331720"/>
          </a:xfrm>
          <a:prstGeom prst="roundRect">
            <a:avLst>
              <a:gd name="adj" fmla="val 3922"/>
            </a:avLst>
          </a:prstGeom>
          <a:solidFill>
            <a:srgbClr val="0D0D0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30639" y="2587752"/>
            <a:ext cx="2119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BDE8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For Every Background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9230639" y="3383280"/>
            <a:ext cx="2119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9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Programs for self-employed, 1099, foreign-national, and credit-rebuilding borrowers — not just W-2 employees.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9377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lender, a full product shelf — ready to plug real numbers into your underwriting data.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 Mortgage Bankers × STR Insights</a:t>
            </a:r>
            <a:endParaRPr lang="en-US" sz="1100" dirty="0"/>
          </a:p>
        </p:txBody>
      </p:sp>
      <p:pic>
        <p:nvPicPr>
          <p:cNvPr id="18" name="Image 0" descr="/home/user/STR/brand/logos/icon/Icon 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6291072"/>
            <a:ext cx="292608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LOCAL &amp; LICENSED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New York lender, for a New York-based tool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5272888" cy="1828800"/>
          </a:xfrm>
          <a:prstGeom prst="roundRect">
            <a:avLst>
              <a:gd name="adj" fmla="val 6000"/>
            </a:avLst>
          </a:prstGeom>
          <a:solidFill>
            <a:srgbClr val="BDE8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56032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Cliffco, Inc.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971800"/>
            <a:ext cx="4632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Licensed by the NY Department of Financial Services as a Mortgage Banker, License LMBC109800, under Corporate NMLS #65328.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78728" y="2331720"/>
            <a:ext cx="5272888" cy="1828800"/>
          </a:xfrm>
          <a:prstGeom prst="roundRect">
            <a:avLst>
              <a:gd name="adj" fmla="val 6000"/>
            </a:avLst>
          </a:prstGeom>
          <a:solidFill>
            <a:srgbClr val="BDE8F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98768" y="256032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Logan Reese Levy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98768" y="2971800"/>
            <a:ext cx="4632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NMLS #2502088, personally licensed in New York, plus AZ, CA, FL, MN, NC, NJ, PA, SC, TN, and VT.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4348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in Buffalo. We're licensed right there with you — not a national call center guessing at your market.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 Mortgage Bankers × STR Insights</a:t>
            </a:r>
            <a:endParaRPr lang="en-US" sz="1100" dirty="0"/>
          </a:p>
        </p:txBody>
      </p:sp>
      <p:pic>
        <p:nvPicPr>
          <p:cNvPr id="12" name="Image 0" descr="/home/user/STR/brand/logos/icon/Icon 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6291072"/>
            <a:ext cx="292608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WAYS TO PARTNER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 small. Scale if it works.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393338" cy="2834640"/>
          </a:xfrm>
          <a:prstGeom prst="roundRect">
            <a:avLst>
              <a:gd name="adj" fmla="val 3871"/>
            </a:avLst>
          </a:prstGeom>
          <a:solidFill>
            <a:srgbClr val="F0EE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267712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· DATA INTEGRATION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61488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 numbers, not projections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291840"/>
            <a:ext cx="284469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DSCR-estimate calculator built into STR Insights' underwriting flow, using live Cliffco loan terms.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9178" y="2011680"/>
            <a:ext cx="3393338" cy="2834640"/>
          </a:xfrm>
          <a:prstGeom prst="roundRect">
            <a:avLst>
              <a:gd name="adj" fmla="val 3871"/>
            </a:avLst>
          </a:prstGeom>
          <a:solidFill>
            <a:srgbClr val="F0EE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73498" y="2267712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· AFFILIATE / REFERRAL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673498" y="2761488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Lowest-friction start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4673498" y="3291840"/>
            <a:ext cx="284469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flat payout per closed loan referred from STR Insights users — no exclusivity, no upfront cost.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58277" y="2011680"/>
            <a:ext cx="3393338" cy="2834640"/>
          </a:xfrm>
          <a:prstGeom prst="roundRect">
            <a:avLst>
              <a:gd name="adj" fmla="val 3871"/>
            </a:avLst>
          </a:prstGeom>
          <a:solidFill>
            <a:srgbClr val="F0EEF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32597" y="2267712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· EVENT PARTNER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432597" y="2761488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front of your room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8432597" y="3291840"/>
            <a:ext cx="284469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Co-present at the STR Wealth Conference or guest on STRonomics.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 Mortgage Bankers × STR Insights</a:t>
            </a:r>
            <a:endParaRPr lang="en-US" sz="1100" dirty="0"/>
          </a:p>
        </p:txBody>
      </p:sp>
      <p:pic>
        <p:nvPicPr>
          <p:cNvPr id="17" name="Image 0" descr="/home/user/STR/brand/logos/icon/Icon 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6291072"/>
            <a:ext cx="292608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DE8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WHAT'S IN IT FOR YOU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BFA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data gets sharper. Your users get a real answer.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911535" cy="777240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90572"/>
            <a:ext cx="402336" cy="402336"/>
          </a:xfrm>
          <a:prstGeom prst="ellipse">
            <a:avLst/>
          </a:prstGeom>
          <a:solidFill>
            <a:srgbClr val="BDE8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905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103120"/>
            <a:ext cx="9768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users get a real loan quote instead of a generic assumption in their underwriting model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044952"/>
            <a:ext cx="10911535" cy="777240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3232404"/>
            <a:ext cx="402336" cy="402336"/>
          </a:xfrm>
          <a:prstGeom prst="ellipse">
            <a:avLst/>
          </a:prstGeom>
          <a:solidFill>
            <a:srgbClr val="BDE8F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2324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044952"/>
            <a:ext cx="9768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genuinely different product — no other data tool in this space has a live financing integration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986784"/>
            <a:ext cx="10911535" cy="777240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4174236"/>
            <a:ext cx="402336" cy="402336"/>
          </a:xfrm>
          <a:prstGeom prst="ellipse">
            <a:avLst/>
          </a:prstGeom>
          <a:solidFill>
            <a:srgbClr val="BDE8F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1742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986784"/>
            <a:ext cx="9768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or integration revenue with no added workload on your team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928616"/>
            <a:ext cx="10911535" cy="777240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5116068"/>
            <a:ext cx="402336" cy="402336"/>
          </a:xfrm>
          <a:prstGeom prst="ellipse">
            <a:avLst/>
          </a:prstGeom>
          <a:solidFill>
            <a:srgbClr val="BDE8F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51160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928616"/>
            <a:ext cx="9768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First-mover positioning — nobody's wired real DSCR terms into STR underwriting data yet</a:t>
            </a:r>
            <a:endParaRPr lang="en-US" sz="1400" dirty="0"/>
          </a:p>
        </p:txBody>
      </p:sp>
      <p:pic>
        <p:nvPicPr>
          <p:cNvPr id="20" name="Image 0" descr="/home/user/STR/brand/logos/icon/Icon 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6291072"/>
            <a:ext cx="292608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steps to a pilot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0911535" cy="868680"/>
          </a:xfrm>
          <a:prstGeom prst="roundRect">
            <a:avLst>
              <a:gd name="adj" fmla="val 10526"/>
            </a:avLst>
          </a:prstGeom>
          <a:solidFill>
            <a:srgbClr val="F0EE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057400"/>
            <a:ext cx="685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2057400"/>
            <a:ext cx="9539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20-minute intro call — walk through how STR Insights users currently get from “good deal” to “funded deal”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10911535" cy="868680"/>
          </a:xfrm>
          <a:prstGeom prst="roundRect">
            <a:avLst>
              <a:gd name="adj" fmla="val 10526"/>
            </a:avLst>
          </a:prstGeom>
          <a:solidFill>
            <a:srgbClr val="F0EEF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108960"/>
            <a:ext cx="685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3108960"/>
            <a:ext cx="9539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the integration — what a DSCR estimate inside your tool would actually look like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10911535" cy="868680"/>
          </a:xfrm>
          <a:prstGeom prst="roundRect">
            <a:avLst>
              <a:gd name="adj" fmla="val 10526"/>
            </a:avLst>
          </a:prstGeom>
          <a:solidFill>
            <a:srgbClr val="F0EEF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160520"/>
            <a:ext cx="685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4160520"/>
            <a:ext cx="9539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it — a beta integration for a subset of users, or a joint session at STR Wealth Conference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34924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Let's put real financing numbers behind STR Insights' data.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 Mortgage Bankers × STR Insights</a:t>
            </a:r>
            <a:endParaRPr lang="en-US" sz="1100" dirty="0"/>
          </a:p>
        </p:txBody>
      </p:sp>
      <p:pic>
        <p:nvPicPr>
          <p:cNvPr id="15" name="Image 0" descr="/home/user/STR/brand/logos/icon/Icon 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6291072"/>
            <a:ext cx="292608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TR/brand/logos/full/Full 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2103120" cy="54926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1031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FA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Let's talk, Kenny.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3200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Logan Reese Levy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5844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DE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Officer · Cliffco Mortgage Bankers · NMLS #2502088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9502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[Logan's direct phone]  ·  [Logan's direct email]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3159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 HQ: (516) 408-7300 · 70 Charles Lindbergh Blvd, Suite 200, Uniondale, NY 11553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89788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87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Cliffco, Inc. is not affiliated with or acting on behalf of the FHA or any government entity. Equal Housing Lender. Corporate NMLS #65328 (nmlsconsumeraccess.org). Logan Reese Levy, NMLS #2502088, licensed in AZ, CA, FL, MN, NC, NJ, NY, PA, SC, TN, VT. Not a commitment to lend; all loans subject to credit and underwriting approval.</a:t>
            </a:r>
            <a:endParaRPr lang="en-US" sz="950" dirty="0"/>
          </a:p>
        </p:txBody>
      </p:sp>
      <p:pic>
        <p:nvPicPr>
          <p:cNvPr id="9" name="Image 1" descr="/home/user/STR/brand/logos/EH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695" y="5943600"/>
            <a:ext cx="502920" cy="4803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2026-10-15T17:54:30Z</dcterms:created>
  <dcterms:modified xsi:type="dcterms:W3CDTF">2026-10-15T17:54:30Z</dcterms:modified>
</cp:coreProperties>
</file>