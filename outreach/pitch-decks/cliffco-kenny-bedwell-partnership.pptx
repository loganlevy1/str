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377440" cy="620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6517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PARTNERSHIP PROPOSAL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0632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Financing Layer Built for STR Insights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92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Kenny Bedwell, by Logan Levy and Mario Argenzio, Loan Officers at Cliffco Mortgage Bankers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 ·  NMLS #65328  ·  Equal Housing Lender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WE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years getting families home — especially the ones other banks turned 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vision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the lender every family — and every investor — wishes they'd called first.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mission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get people home and get deals closed. We grow their net worth — and self-worth — along the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mortgage bank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68698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68698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in 35 states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7317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97317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hands on every file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WE'VE DONE THIS BEFORE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already do this successfully with educators and creators just like you.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63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$100M+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30632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loan volume in the last 9 months, with borrowers from every kind of background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real estate investing educators and their communities nationwide — financing their students with investment property, second home, and DSCR loans across every kind of borrower background. That track record is why we're reaching out directly to you.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349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That's exactly what we want to build with STR Insights.</a:t>
            </a:r>
            <a:endParaRPr lang="en-US" sz="2000" dirty="0"/>
          </a:p>
        </p:txBody>
      </p:sp>
      <p:pic>
        <p:nvPicPr>
          <p:cNvPr id="8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YOU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Kenny Bedwell built the data layer underneath STR investing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former Citibank financial-research analyst, Kenny co-hosts the STRonomics podcast with Bill Faeth and built STR Insights, a data and underwriting tool investors use to pick markets and size deals before they ever write an offer. He's based in the Buffalo/Niagara Falls, NY area and speaks at events like the STR Wealth Conference.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NY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base: Buffalo/Niagara Falls, New York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3938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39970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Ex-Citibank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639970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in financial research &amp; analytics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27797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83829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Data-first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8383829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 Insights helps investors underwrite deals before they buy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tool already answers 'should I buy this deal?' — we answer 'how do I pay for it?'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 Insights users are doing the underwriting work before anyone else in the market — which means they know the exact numbers on a deal before they ever call a lender. That's the perfect moment to hand them a real DSCR quote instead of a guess.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F0EEF1"/>
          </a:solidFill>
          <a:ln w="12700">
            <a:solidFill>
              <a:srgbClr val="E3E0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79476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 Insights helps investors size a deal's numbers — but stops short of what the actual financing looks like.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315468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6633C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the market's headed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379476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0E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tools are becoming the new front door for serious investors — the next step is pairing the data with real loan terms, not just projections.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1206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Nobody's wired real financing numbers into STR market-selection data yet.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3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 BRING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financing built for how your audience actually qualifies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41248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Property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or refinance rental property, from a first door to a growing portfolio.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36544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7712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DSCR Loans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637712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Qualify off the property's cash flow, not personal income or tax returns.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4176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Second Home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buyers diversifying into second-home and vacation-market purchases.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29471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30639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For Every Background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230639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for self-employed, 1099, foreign-national, and credit-rebuilding borrowers — not just W-2 employees.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937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lender, a full product shelf — ready to plug real numbers into your underwriting data.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8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LOCAL &amp; LICENSED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New York lender, for a New York-based tool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Cliffco, Inc.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by the NY Department of Financial Services as a Mortgage Banker, License LMBC109800, under Corporate NMLS #65328.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Logan Levy &amp; Mario Argenzio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NMLS #2502088 (Logan) and #1869384 (Mario) — both personally licensed in New York, among other states.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43484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in Buffalo. We're licensed right there with you — not a national call center guessing at your market.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2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WAYS TO PARTNER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small. Scale if it works.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522144" cy="2834640"/>
          </a:xfrm>
          <a:prstGeom prst="roundRect">
            <a:avLst>
              <a:gd name="adj" fmla="val 4351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2494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 · OFFICE HOURS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06624"/>
            <a:ext cx="2064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a proven rhythm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46704"/>
            <a:ext cx="2064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Twice a week, a Cliffco loan officer sits in on live office hours with an educator partner's members, answering financing questions in real time — we'd bring that same cadence to STR Insights and STRonomics.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36544" y="2011680"/>
            <a:ext cx="2522144" cy="2834640"/>
          </a:xfrm>
          <a:prstGeom prst="roundRect">
            <a:avLst>
              <a:gd name="adj" fmla="val 4351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65144" y="22494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DATA INTEGRATION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665144" y="2706624"/>
            <a:ext cx="2064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 numbers, not projections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65144" y="3346704"/>
            <a:ext cx="2064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DSCR-estimate calculator built into STR Insights' underwriting flow, using live Cliffco loan terms.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3008" y="2011680"/>
            <a:ext cx="2522144" cy="2834640"/>
          </a:xfrm>
          <a:prstGeom prst="roundRect">
            <a:avLst>
              <a:gd name="adj" fmla="val 4351"/>
            </a:avLst>
          </a:prstGeom>
          <a:solidFill>
            <a:srgbClr val="F0EE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61608" y="22494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CO-MARKETING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61608" y="2706624"/>
            <a:ext cx="2064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 commitment to start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61608" y="3346704"/>
            <a:ext cx="2064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shows up where your community already is — inside STR Insights or on STRonomics.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29471" y="2011680"/>
            <a:ext cx="2522144" cy="2834640"/>
          </a:xfrm>
          <a:prstGeom prst="roundRect">
            <a:avLst>
              <a:gd name="adj" fmla="val 4351"/>
            </a:avLst>
          </a:prstGeom>
          <a:solidFill>
            <a:srgbClr val="F0EEF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258071" y="22494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 · EVENT PARTNER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9258071" y="2706624"/>
            <a:ext cx="2064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front of your room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58071" y="3346704"/>
            <a:ext cx="2064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Co-present at the STR Wealth Conference or guest on STRonomics.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21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WHAT'S IN IT FOR YOU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data gets sharper. Your users get a real answer.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90572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905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103120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users get a real loan quote instead of a generic assumption in their underwriting model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44952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232404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232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044952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genuinely different product — no other data tool in this space has a live financing integration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986784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174236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1742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986784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upside with no added workload on your team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928616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5116068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1160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928616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First-mover positioning — nobody's wired real DSCR terms into STR underwriting data yet</a:t>
            </a:r>
            <a:endParaRPr lang="en-US" sz="1400" dirty="0"/>
          </a:p>
        </p:txBody>
      </p:sp>
      <p:pic>
        <p:nvPicPr>
          <p:cNvPr id="20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steps to a pilot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05740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20-minute intro call — walk through how STR Insights users currently get from “good deal” to “funded deal”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10896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310896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the integration — what a DSCR estimate inside your tool would actually look like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16052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416052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it — a beta integration for a subset of users, or a joint session at STR Wealth Conference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3492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put real financing numbers behind STR Insights' data.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103120" cy="5492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talk, Kenny.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200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B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Logan Levy</a:t>
            </a:r>
            <a:endParaRPr lang="en-US" sz="19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566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DE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 Officer · Cliffco Mortgage Bankers · NMLS #2502088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913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[Logan's direct phone]  ·  [Logan's direct email]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3200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B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Mario Argenzio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566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DE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 Officer · Cliffco Mortgage Bankers · NMLS #1869384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3913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[Mario's direct phone]  ·  [Mario's direct email]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3891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HQ: (516) 408-7300 · 70 Charles Lindbergh Blvd, Suite 200, Uniondale, NY 11553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8521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is not affiliated with or acting on behalf of the FHA or any government entity. Equal Housing Lender. Corporate NMLS #65328 (nmlsconsumeraccess.org). Logan Levy, NMLS #2502088, licensed in AZ, CA, FL, MN, NC, NJ, NY, PA, SC, TN, VT. Mario Argenzio, NMLS #1869384, licensed in AZ, CA, CO, CT, FL, GA, IA, MN, NC, NJ, NY, OK, PA, SC, TN, VA. Not a commitment to lend; all loans subject to credit and underwriting approval.</a:t>
            </a:r>
            <a:endParaRPr lang="en-US" sz="850" dirty="0"/>
          </a:p>
        </p:txBody>
      </p:sp>
      <p:pic>
        <p:nvPicPr>
          <p:cNvPr id="12" name="Image 1" descr="/home/user/STR/brand/logos/EH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5943600"/>
            <a:ext cx="502920" cy="4803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2026-10-15T18:19:18Z</dcterms:created>
  <dcterms:modified xsi:type="dcterms:W3CDTF">2026-10-15T18:19:18Z</dcterms:modified>
</cp:coreProperties>
</file>