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377440" cy="620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6517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PARTNERSHIP PROPOSAL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0632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Financing Half of the College Funding Strategy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92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Lance Morgan, by Logan Levy and Mario Argenzio, Loan Officers at Cliffco Mortgage Bankers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 ·  NMLS #65328  ·  Equal Housing Lender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WE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years getting families home — especially the ones other banks turned 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vision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the lender every family — and every investor — wishes they'd called first.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mission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get people home and get deals closed. We grow their net worth — and self-worth — along the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mortgage bank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68698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68698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in 35 states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7317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97317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hands on every file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WE'VE DONE THIS BEFORE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already do this successfully with educators and creators just like you.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63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$100M+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30632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loan volume in the last 9 months, with borrowers from every kind of background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real estate investing educators and their communities nationwide — financing their students with investment property, second home, and DSCR loans across every kind of borrower background. That track record is why we're reaching out directly to you.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349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That's exactly what we want to build with College Funding Secrets.</a:t>
            </a:r>
            <a:endParaRPr lang="en-US" sz="2000" dirty="0"/>
          </a:p>
        </p:txBody>
      </p:sp>
      <p:pic>
        <p:nvPicPr>
          <p:cNvPr id="8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YOU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Lance Morgan turned one real estate strategy into a college-funding movement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father of five and 20-year licensed fiduciary, Lance built College Funding Secrets around a single real estate strategy: buy a short-term rental, use bonus depreciation to reduce reportable income, and free up both cash and financial-aid eligibility to pay for college. The company says it has helped 1,200+ families save a combined $100M on tuition.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1,200+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Families the company says it has helped (self-reported)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3938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39970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$100M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639970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tuition savings claimed across those families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27797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83829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$97/mo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8383829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price point for the College Funding Secrets software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family in your program has to buy a property they've probably never financed before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strategy only works if a family actually closes on a qualifying short-term rental — and most of your audience are first-time real estate buyers, not investors. The financing step is the single biggest point of friction between “I watched the webinar” and “I did the strategy.”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F0EEF1"/>
          </a:solidFill>
          <a:ln w="12700">
            <a:solidFill>
              <a:srgbClr val="E3E0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79476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named lender shows up in the College Funding Secrets webinar or software funnel.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315468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6633C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the market's headed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379476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0E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Families attending your webinar are sold on the strategy — but have nowhere to go next for the real estate half of it.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1206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financing step is the one part of this strategy nobody's built a bridge for yet.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3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 BRING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financing built for how your audience actually qualifies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41248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Property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 refinance rental property, from a first door to a growing portfolio.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36544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7712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DSCR Loans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637712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Qualify off the property's cash flow, not personal income or tax returns.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4176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Second Home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buyers diversifying into second-home and vacation-market purchases.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29471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30639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For Every Background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230639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for self-employed, 1099, foreign-national, and credit-rebuilding borrowers — not just W-2 employees.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937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lender, a full product shelf — built for first-time investment and second-home buyers, whatever their income looks like on paper.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8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LOCAL &amp; LICENSED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for the buyer your strategy actually attracts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Cliffco, Inc.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as a mortgage banker in 35 states, closing investor and second-home loans nationwide with real, licensed loan officers on every file.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Logan Levy &amp; Mario Argenzio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NMLS #2502088 (Logan) and #1869384 (Mario) — personally licensed across 17 states between them: AZ, CA, CO, CT, FL, GA, IA, MN, NC, NJ, NY, OK, PA, SC, TN, VA, and VT.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43484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Families following your strategy are often buying their first investment property ever — they need a lender who explains it, not one who assumes they already know how.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2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WAYS TO PARTNER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small. Scale if it works.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522144" cy="2834640"/>
          </a:xfrm>
          <a:prstGeom prst="roundRect">
            <a:avLst>
              <a:gd name="adj" fmla="val 4351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2494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 · OFFICE HOURS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06624"/>
            <a:ext cx="2064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a proven rhythm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46704"/>
            <a:ext cx="2064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Twice a week, a Cliffco loan officer sits in on live office hours with an educator partner's members, answering financing questions in real time — we'd bring that same cadence to your families.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36544" y="2011680"/>
            <a:ext cx="2522144" cy="2834640"/>
          </a:xfrm>
          <a:prstGeom prst="roundRect">
            <a:avLst>
              <a:gd name="adj" fmla="val 4351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65144" y="22494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WEBINAR PARTNER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665144" y="2706624"/>
            <a:ext cx="2064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other half of the strategy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65144" y="3346704"/>
            <a:ext cx="2064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Co-present the financing half of your free webinar — the strategy only works if they can close.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3008" y="2011680"/>
            <a:ext cx="2522144" cy="2834640"/>
          </a:xfrm>
          <a:prstGeom prst="roundRect">
            <a:avLst>
              <a:gd name="adj" fmla="val 4351"/>
            </a:avLst>
          </a:prstGeom>
          <a:solidFill>
            <a:srgbClr val="F0EE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61608" y="22494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CONTENT PARTNER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61608" y="2706624"/>
            <a:ext cx="2064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into the program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61608" y="3346704"/>
            <a:ext cx="2064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Co-create a financing resource inside the College Funding Secrets software and the Creative College Funding program.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29471" y="2011680"/>
            <a:ext cx="2522144" cy="2834640"/>
          </a:xfrm>
          <a:prstGeom prst="roundRect">
            <a:avLst>
              <a:gd name="adj" fmla="val 4351"/>
            </a:avLst>
          </a:prstGeom>
          <a:solidFill>
            <a:srgbClr val="F0EEF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258071" y="22494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 · CO-MARKETING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9258071" y="2706624"/>
            <a:ext cx="2064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 commitment to start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58071" y="3346704"/>
            <a:ext cx="2064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shows up where your families already are — inside your webinar or software.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21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IN IT FOR YOU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stay the strategist. We remove the biggest drop-off point.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90572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905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03120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answer for the question every family asks right after your webinar: “okay, but how do I actually buy the property?”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44952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232404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232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044952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Removes the single biggest drop-off point in your funnel — the financing step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986784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174236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1742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986784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upside with no added workload on your team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28616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5116068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1160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928616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First-mover positioning — no lender has claimed this seat in your program yet</a:t>
            </a:r>
            <a:endParaRPr lang="en-US" sz="1400" dirty="0"/>
          </a:p>
        </p:txBody>
      </p:sp>
      <p:pic>
        <p:nvPicPr>
          <p:cNvPr id="20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steps to a pilot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05740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20-minute intro call — walk through where families currently get stuck between the webinar and closing on a property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10896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310896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the partnership — we'll walk through compensation and structure together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16052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416052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it — a financing segment inside your next live webinar, or a dedicated module in Creative College Funding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3492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build the financing bridge your strategy has been missing.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College Funding Secrets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103120" cy="5492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talk, Lance.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200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Logan Levy</a:t>
            </a:r>
            <a:endParaRPr lang="en-US" sz="19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566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DE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 Officer · Cliffco Mortgage Bankers · NMLS #2502088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913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[Logan's direct phone]  ·  [Logan's direct email]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3200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Mario Argenzio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566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DE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 Officer · Cliffco Mortgage Bankers · NMLS #1869384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3913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[Mario's direct phone]  ·  [Mario's direct email]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3891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HQ: (516) 408-7300 · 70 Charles Lindbergh Blvd, Suite 200, Uniondale, NY 11553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8521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is not affiliated with or acting on behalf of the FHA or any government entity. Equal Housing Lender. Corporate NMLS #65328 (nmlsconsumeraccess.org). Logan Levy, NMLS #2502088, licensed in AZ, CA, FL, MN, NC, NJ, NY, PA, SC, TN, VT. Mario Argenzio, NMLS #1869384, licensed in AZ, CA, CO, CT, FL, GA, IA, MN, NC, NJ, NY, OK, PA, SC, TN, VA. Not a commitment to lend; all loans subject to credit and underwriting approval.</a:t>
            </a:r>
            <a:endParaRPr lang="en-US" sz="850" dirty="0"/>
          </a:p>
        </p:txBody>
      </p:sp>
      <p:pic>
        <p:nvPicPr>
          <p:cNvPr id="12" name="Image 1" descr="/home/user/STR/brand/logos/EH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5943600"/>
            <a:ext cx="502920" cy="4803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2026-10-15T18:19:18Z</dcterms:created>
  <dcterms:modified xsi:type="dcterms:W3CDTF">2026-10-15T18:19:18Z</dcterms:modified>
</cp:coreProperties>
</file>