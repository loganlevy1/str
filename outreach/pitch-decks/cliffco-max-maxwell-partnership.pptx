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TR/brand/logos/full/Full 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2377440" cy="62090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6517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PARTNERSHIP PROPOSAL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06324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400" b="1" dirty="0">
                <a:solidFill>
                  <a:srgbClr val="FBFA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Lending Partner Built for Cash Homes Triad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892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 Max Maxwell, by Logan Reese Levy, Loan Officer at Cliffco Mortgage Bankers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7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Cliffco, Inc.  ·  NMLS #65328  ·  Equal Housing Lender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WE ARE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36 years getting families home — especially the ones other banks turned away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272888" cy="1554480"/>
          </a:xfrm>
          <a:prstGeom prst="roundRect">
            <a:avLst>
              <a:gd name="adj" fmla="val 7059"/>
            </a:avLst>
          </a:prstGeom>
          <a:solidFill>
            <a:srgbClr val="F0EE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56032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vision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971800"/>
            <a:ext cx="463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the lender every family — and every investor — wishes they'd called first.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78728" y="2331720"/>
            <a:ext cx="5272888" cy="1554480"/>
          </a:xfrm>
          <a:prstGeom prst="roundRect">
            <a:avLst>
              <a:gd name="adj" fmla="val 7059"/>
            </a:avLst>
          </a:prstGeom>
          <a:solidFill>
            <a:srgbClr val="F0EEF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98768" y="256032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mission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98768" y="2971800"/>
            <a:ext cx="46328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get people home and get deals closed. We grow their net worth — and self-worth — along the way.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3454298" cy="594360"/>
          </a:xfrm>
          <a:prstGeom prst="roundRect">
            <a:avLst>
              <a:gd name="adj" fmla="val 49231"/>
            </a:avLst>
          </a:prstGeom>
          <a:solidFill>
            <a:srgbClr val="BDE8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206240"/>
            <a:ext cx="345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mortgage bank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68698" y="4206240"/>
            <a:ext cx="3454298" cy="594360"/>
          </a:xfrm>
          <a:prstGeom prst="roundRect">
            <a:avLst>
              <a:gd name="adj" fmla="val 49231"/>
            </a:avLst>
          </a:prstGeom>
          <a:solidFill>
            <a:srgbClr val="BDE8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68698" y="4206240"/>
            <a:ext cx="345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Licensed in 35 states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97317" y="4206240"/>
            <a:ext cx="3454298" cy="594360"/>
          </a:xfrm>
          <a:prstGeom prst="roundRect">
            <a:avLst>
              <a:gd name="adj" fmla="val 49231"/>
            </a:avLst>
          </a:prstGeom>
          <a:solidFill>
            <a:srgbClr val="BDE8F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097317" y="4206240"/>
            <a:ext cx="34542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hands on every file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Mortgage Bankers × Cash Homes Triad</a:t>
            </a:r>
            <a:endParaRPr lang="en-US" sz="1100" dirty="0"/>
          </a:p>
        </p:txBody>
      </p:sp>
      <p:pic>
        <p:nvPicPr>
          <p:cNvPr id="17" name="Image 0" descr="/home/user/STR/brand/logos/icon/Icon 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WE'VE DONE THIS BEFORE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14300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200" b="1" dirty="0">
                <a:solidFill>
                  <a:srgbClr val="FBFA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already do this successfully with educators and creators just like you.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$100M+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3840480" y="306324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loan volume in the last 9 months, with borrowers from every kind of background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10241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work with real estate investing educators and their communities nationwide — financing their students with investment property, second home, and DSCR loans across every kind of borrower background. That track record is why we're reaching out directly to you.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349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That's exactly what we want to build with Cash Homes Triad.</a:t>
            </a:r>
            <a:endParaRPr lang="en-US" sz="2000" dirty="0"/>
          </a:p>
        </p:txBody>
      </p:sp>
      <p:pic>
        <p:nvPicPr>
          <p:cNvPr id="8" name="Image 0" descr="/home/user/STR/brand/logos/icon/Icon 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WHO YOU ARE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Max Maxwell built Cash Homes Triad from the ground up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self-taught wholesaler based in Winston-Salem, NC, Max turned Cash Homes Triad into a multi-million-dollar business and has trained thousands of investors across the Carolinas and beyond — through his “Wholesaling Houses Elite” podcast and his “Wholesaling Elite Live” events.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3423818" cy="2103120"/>
          </a:xfrm>
          <a:prstGeom prst="roundRect">
            <a:avLst>
              <a:gd name="adj" fmla="val 5217"/>
            </a:avLst>
          </a:prstGeom>
          <a:solidFill>
            <a:srgbClr val="F0EE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342900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NC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11480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base: Winston-Salem, active across the Winston-Salem/Charlotte corridor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3938" y="3200400"/>
            <a:ext cx="3423818" cy="2103120"/>
          </a:xfrm>
          <a:prstGeom prst="roundRect">
            <a:avLst>
              <a:gd name="adj" fmla="val 5217"/>
            </a:avLst>
          </a:prstGeom>
          <a:solidFill>
            <a:srgbClr val="F0EE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58258" y="342900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1,000s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4658258" y="411480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trained through his coaching, podcast, and events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27797" y="3200400"/>
            <a:ext cx="3423818" cy="2103120"/>
          </a:xfrm>
          <a:prstGeom prst="roundRect">
            <a:avLst>
              <a:gd name="adj" fmla="val 5217"/>
            </a:avLst>
          </a:prstGeom>
          <a:solidFill>
            <a:srgbClr val="F0EEF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402117" y="342900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450+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8402117" y="4114800"/>
            <a:ext cx="287517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 who attended Wholesaling Elite Live in Charlotte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Mortgage Bankers × Cash Homes Triad</a:t>
            </a:r>
            <a:endParaRPr lang="en-US" sz="1100" dirty="0"/>
          </a:p>
        </p:txBody>
      </p:sp>
      <p:pic>
        <p:nvPicPr>
          <p:cNvPr id="15" name="Image 0" descr="/home/user/STR/brand/logos/icon/Icon 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OPPORTUNITY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students' next step is exactly what we finance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109115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Wholesaling is the entry point — but a growing share of the investors you train move from assigning contracts to keeping deals for themselves: rental property, second homes, growing portfolios. That's the moment they need a lender who already understands the deal.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5272888" cy="1737360"/>
          </a:xfrm>
          <a:prstGeom prst="roundRect">
            <a:avLst>
              <a:gd name="adj" fmla="val 6316"/>
            </a:avLst>
          </a:prstGeom>
          <a:solidFill>
            <a:srgbClr val="F0EEF1"/>
          </a:solidFill>
          <a:ln w="12700">
            <a:solidFill>
              <a:srgbClr val="E3E0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329184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3703320"/>
            <a:ext cx="4632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named financing partner is tied to Cash Homes Triad or Wholesaling Houses Elite.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78728" y="3063240"/>
            <a:ext cx="5272888" cy="1737360"/>
          </a:xfrm>
          <a:prstGeom prst="roundRect">
            <a:avLst>
              <a:gd name="adj" fmla="val 6316"/>
            </a:avLst>
          </a:prstGeom>
          <a:solidFill>
            <a:srgbClr val="6633C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98768" y="329184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FA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the market's headed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598768" y="3703320"/>
            <a:ext cx="4632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F0E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Figure Flipping already promotes “built-in funding partners” as a core program benefit — audiences increasingly expect it.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0749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Nobody's claimed that seat in the Carolinas wholesaling space yet.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Mortgage Bankers × Cash Homes Triad</a:t>
            </a:r>
            <a:endParaRPr lang="en-US" sz="1100" dirty="0"/>
          </a:p>
        </p:txBody>
      </p:sp>
      <p:pic>
        <p:nvPicPr>
          <p:cNvPr id="13" name="Image 0" descr="/home/user/STR/brand/logos/icon/Icon 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BRING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financing built for how your students actually qualify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522144" cy="2331720"/>
          </a:xfrm>
          <a:prstGeom prst="roundRect">
            <a:avLst>
              <a:gd name="adj" fmla="val 3922"/>
            </a:avLst>
          </a:prstGeom>
          <a:solidFill>
            <a:srgbClr val="0D0D0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1248" y="2587752"/>
            <a:ext cx="211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Property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383280"/>
            <a:ext cx="2119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Purchase or refinance rental property, from a first door to a growing portfolio.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36544" y="2331720"/>
            <a:ext cx="2522144" cy="2331720"/>
          </a:xfrm>
          <a:prstGeom prst="roundRect">
            <a:avLst>
              <a:gd name="adj" fmla="val 3922"/>
            </a:avLst>
          </a:prstGeom>
          <a:solidFill>
            <a:srgbClr val="0D0D0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37712" y="2587752"/>
            <a:ext cx="211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DSCR Loans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3637712" y="3383280"/>
            <a:ext cx="2119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Qualify off the property's cash flow, not personal income or tax returns.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33008" y="2331720"/>
            <a:ext cx="2522144" cy="2331720"/>
          </a:xfrm>
          <a:prstGeom prst="roundRect">
            <a:avLst>
              <a:gd name="adj" fmla="val 3922"/>
            </a:avLst>
          </a:prstGeom>
          <a:solidFill>
            <a:srgbClr val="0D0D0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34176" y="2587752"/>
            <a:ext cx="211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Second Home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6434176" y="3383280"/>
            <a:ext cx="2119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students diversifying into second-home and vacation-market purchases.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29471" y="2331720"/>
            <a:ext cx="2522144" cy="2331720"/>
          </a:xfrm>
          <a:prstGeom prst="roundRect">
            <a:avLst>
              <a:gd name="adj" fmla="val 3922"/>
            </a:avLst>
          </a:prstGeom>
          <a:solidFill>
            <a:srgbClr val="0D0D0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230639" y="2587752"/>
            <a:ext cx="2119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For Every Background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9230639" y="3383280"/>
            <a:ext cx="21198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Programs for self-employed, 1099, foreign-national, and credit-rebuilding borrowers — not just W-2 employees.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9377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lender, a full product shelf — built to qualify investors from every kind of financial background.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Mortgage Bankers × Cash Homes Triad</a:t>
            </a:r>
            <a:endParaRPr lang="en-US" sz="1100" dirty="0"/>
          </a:p>
        </p:txBody>
      </p:sp>
      <p:pic>
        <p:nvPicPr>
          <p:cNvPr id="18" name="Image 0" descr="/home/user/STR/brand/logos/icon/Icon 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LOCAL &amp; LICENSED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a fly-in sponsor — a lender who can actually close in North Carolina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5272888" cy="1828800"/>
          </a:xfrm>
          <a:prstGeom prst="roundRect">
            <a:avLst>
              <a:gd name="adj" fmla="val 6000"/>
            </a:avLst>
          </a:prstGeom>
          <a:solidFill>
            <a:srgbClr val="BDE8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256032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Cliffco, Inc.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971800"/>
            <a:ext cx="4632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Licensed by the NC Commissioner of Banks, License L-211081, under Corporate NMLS #65328.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78728" y="2331720"/>
            <a:ext cx="5272888" cy="1828800"/>
          </a:xfrm>
          <a:prstGeom prst="roundRect">
            <a:avLst>
              <a:gd name="adj" fmla="val 6000"/>
            </a:avLst>
          </a:prstGeom>
          <a:solidFill>
            <a:srgbClr val="BDE8F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98768" y="2560320"/>
            <a:ext cx="4632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Logan Reese Levy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98768" y="2971800"/>
            <a:ext cx="4632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NMLS #2502088, personally licensed in North Carolina, plus AZ, CA, FL, MN, NJ, NY, PA, SC, TN, and VT.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4348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loan we'd close for your students runs through a licensed North Carolina lender and a loan officer who is personally licensed in your state — not a national call center.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Mortgage Bankers × Cash Homes Triad</a:t>
            </a:r>
            <a:endParaRPr lang="en-US" sz="1100" dirty="0"/>
          </a:p>
        </p:txBody>
      </p:sp>
      <p:pic>
        <p:nvPicPr>
          <p:cNvPr id="12" name="Image 0" descr="/home/user/STR/brand/logos/icon/Icon 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WAYS TO PARTNER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small. Scale if it works.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393338" cy="2834640"/>
          </a:xfrm>
          <a:prstGeom prst="roundRect">
            <a:avLst>
              <a:gd name="adj" fmla="val 3871"/>
            </a:avLst>
          </a:prstGeom>
          <a:solidFill>
            <a:srgbClr val="F0EE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267712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 · AFFILIATE / REFERRAL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761488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Lowest-friction start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91840"/>
            <a:ext cx="284469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flat payout per closed loan referred from your community — no exclusivity, no upfront cost.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99178" y="2011680"/>
            <a:ext cx="3393338" cy="2834640"/>
          </a:xfrm>
          <a:prstGeom prst="roundRect">
            <a:avLst>
              <a:gd name="adj" fmla="val 3871"/>
            </a:avLst>
          </a:prstGeom>
          <a:solidFill>
            <a:srgbClr val="F0EE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673498" y="2267712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 · PREFERRED LENDER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673498" y="2761488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Named inside your world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73498" y="3291840"/>
            <a:ext cx="284469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named as the go-to financing resource in Cash Homes Triad and Wholesaling Houses Elite materials.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158277" y="2011680"/>
            <a:ext cx="3393338" cy="2834640"/>
          </a:xfrm>
          <a:prstGeom prst="roundRect">
            <a:avLst>
              <a:gd name="adj" fmla="val 3871"/>
            </a:avLst>
          </a:prstGeom>
          <a:solidFill>
            <a:srgbClr val="F0EE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432597" y="2267712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 · EVENT &amp; CONTENT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8432597" y="2761488"/>
            <a:ext cx="28446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front of your room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432597" y="3291840"/>
            <a:ext cx="284469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D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Sponsor Wholesaling Elite Live, guest on the podcast, or co-host a financing webinar for your audience.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Mortgage Bankers × Cash Homes Triad</a:t>
            </a:r>
            <a:endParaRPr lang="en-US" sz="1100" dirty="0"/>
          </a:p>
        </p:txBody>
      </p:sp>
      <p:pic>
        <p:nvPicPr>
          <p:cNvPr id="17" name="Image 0" descr="/home/user/STR/brand/logos/icon/Icon 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THE AFFILIATE MODEL WORKS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steps from your classroom to a closed loan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12368" y="2148840"/>
            <a:ext cx="2148840" cy="1828800"/>
          </a:xfrm>
          <a:prstGeom prst="roundRect">
            <a:avLst>
              <a:gd name="adj" fmla="val 5000"/>
            </a:avLst>
          </a:prstGeom>
          <a:solidFill>
            <a:srgbClr val="F0EE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13536" y="2350008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1313536" y="2926080"/>
            <a:ext cx="1746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learns to wholesale with Max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79496" y="2935224"/>
            <a:ext cx="420624" cy="256032"/>
          </a:xfrm>
          <a:prstGeom prst="rightArrow">
            <a:avLst/>
          </a:prstGeom>
          <a:solidFill>
            <a:srgbClr val="6633CC"/>
          </a:solidFill>
          <a:ln/>
        </p:spPr>
      </p:sp>
      <p:sp>
        <p:nvSpPr>
          <p:cNvPr id="8" name="Shape 6"/>
          <p:cNvSpPr/>
          <p:nvPr/>
        </p:nvSpPr>
        <p:spPr>
          <a:xfrm>
            <a:off x="3718408" y="2148840"/>
            <a:ext cx="2148840" cy="1828800"/>
          </a:xfrm>
          <a:prstGeom prst="roundRect">
            <a:avLst>
              <a:gd name="adj" fmla="val 5000"/>
            </a:avLst>
          </a:prstGeom>
          <a:solidFill>
            <a:srgbClr val="F0EE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919576" y="2350008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919576" y="2926080"/>
            <a:ext cx="1746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decides to take down a deal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85536" y="2935224"/>
            <a:ext cx="420624" cy="256032"/>
          </a:xfrm>
          <a:prstGeom prst="rightArrow">
            <a:avLst/>
          </a:prstGeom>
          <a:solidFill>
            <a:srgbClr val="6633CC"/>
          </a:solidFill>
          <a:ln/>
        </p:spPr>
      </p:sp>
      <p:sp>
        <p:nvSpPr>
          <p:cNvPr id="12" name="Shape 10"/>
          <p:cNvSpPr/>
          <p:nvPr/>
        </p:nvSpPr>
        <p:spPr>
          <a:xfrm>
            <a:off x="6324448" y="2148840"/>
            <a:ext cx="2148840" cy="1828800"/>
          </a:xfrm>
          <a:prstGeom prst="roundRect">
            <a:avLst>
              <a:gd name="adj" fmla="val 5000"/>
            </a:avLst>
          </a:prstGeom>
          <a:solidFill>
            <a:srgbClr val="F0EE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25616" y="2350008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6525616" y="2926080"/>
            <a:ext cx="1746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underwrites and closes the loan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491576" y="2935224"/>
            <a:ext cx="420624" cy="256032"/>
          </a:xfrm>
          <a:prstGeom prst="rightArrow">
            <a:avLst/>
          </a:prstGeom>
          <a:solidFill>
            <a:srgbClr val="6633CC"/>
          </a:solidFill>
          <a:ln/>
        </p:spPr>
      </p:sp>
      <p:sp>
        <p:nvSpPr>
          <p:cNvPr id="16" name="Shape 14"/>
          <p:cNvSpPr/>
          <p:nvPr/>
        </p:nvSpPr>
        <p:spPr>
          <a:xfrm>
            <a:off x="8930488" y="2148840"/>
            <a:ext cx="2148840" cy="1828800"/>
          </a:xfrm>
          <a:prstGeom prst="roundRect">
            <a:avLst>
              <a:gd name="adj" fmla="val 5000"/>
            </a:avLst>
          </a:prstGeom>
          <a:solidFill>
            <a:srgbClr val="6633C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31656" y="2350008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FA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9131656" y="2926080"/>
            <a:ext cx="1746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B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Payout to Cash Homes Triad per closed loan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and payout terms to be worked out together — industry benchmark for this kind of referral program runs around $1,000 per closed loan.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Mortgage Bankers × Cash Homes Triad</a:t>
            </a:r>
            <a:endParaRPr lang="en-US" sz="1100" dirty="0"/>
          </a:p>
        </p:txBody>
      </p:sp>
      <p:pic>
        <p:nvPicPr>
          <p:cNvPr id="21" name="Image 0" descr="/home/user/STR/brand/logos/icon/Icon 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DE8F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WHAT'S IN IT FOR YOU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BFA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stay the trusted voice. We do the underwriting.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336292"/>
            <a:ext cx="402336" cy="402336"/>
          </a:xfrm>
          <a:prstGeom prst="ellipse">
            <a:avLst/>
          </a:prstGeom>
          <a:solidFill>
            <a:srgbClr val="BDE8F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3362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148840"/>
            <a:ext cx="9768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real financing answer for students who get stuck once an assignment falls through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090672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278124"/>
            <a:ext cx="402336" cy="402336"/>
          </a:xfrm>
          <a:prstGeom prst="ellipse">
            <a:avLst/>
          </a:prstGeom>
          <a:solidFill>
            <a:srgbClr val="BDE8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32781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090672"/>
            <a:ext cx="9768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or sponsorship revenue with no added workload on your team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032504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4219956"/>
            <a:ext cx="402336" cy="402336"/>
          </a:xfrm>
          <a:prstGeom prst="ellipse">
            <a:avLst/>
          </a:prstGeom>
          <a:solidFill>
            <a:srgbClr val="BDE8F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4400" y="42199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032504"/>
            <a:ext cx="9768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handles compliance, underwriting, and closing — you stay the face your students trust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974336"/>
            <a:ext cx="10911535" cy="777240"/>
          </a:xfrm>
          <a:prstGeom prst="roundRect">
            <a:avLst>
              <a:gd name="adj" fmla="val 11765"/>
            </a:avLst>
          </a:prstGeom>
          <a:solidFill>
            <a:srgbClr val="1A1A1A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5161788"/>
            <a:ext cx="402336" cy="402336"/>
          </a:xfrm>
          <a:prstGeom prst="ellipse">
            <a:avLst/>
          </a:prstGeom>
          <a:solidFill>
            <a:srgbClr val="BDE8F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4400" y="51617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974336"/>
            <a:ext cx="9768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0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First-mover positioning — no lender has claimed this seat in Carolinas wholesaling education yet</a:t>
            </a:r>
            <a:endParaRPr lang="en-US" sz="1500" dirty="0"/>
          </a:p>
        </p:txBody>
      </p:sp>
      <p:pic>
        <p:nvPicPr>
          <p:cNvPr id="20" name="Image 0" descr="/home/user/STR/brand/logos/icon/Icon 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5156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D0D0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steps to a pilot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F0EEF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2057400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91640" y="2057400"/>
            <a:ext cx="9539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20-minute intro call — walk through how your students take down deals today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F0EEF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3108960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3108960"/>
            <a:ext cx="9539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the partnership — affiliate terms, preferred-lender placement, or event sponsorship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0911535" cy="868680"/>
          </a:xfrm>
          <a:prstGeom prst="roundRect">
            <a:avLst>
              <a:gd name="adj" fmla="val 10526"/>
            </a:avLst>
          </a:prstGeom>
          <a:solidFill>
            <a:srgbClr val="F0EE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160520"/>
            <a:ext cx="685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4160520"/>
            <a:ext cx="9539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it — a guest episode on Wholesaling Houses Elite, or sponsorship at the next Wholesaling Elite Live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34924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6633C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put that same track record to work — for Cash Homes Triad.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3550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D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Mortgage Bankers × Cash Homes Triad</a:t>
            </a:r>
            <a:endParaRPr lang="en-US" sz="1100" dirty="0"/>
          </a:p>
        </p:txBody>
      </p:sp>
      <p:pic>
        <p:nvPicPr>
          <p:cNvPr id="15" name="Image 0" descr="/home/user/STR/brand/logos/icon/Icon 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9007" y="6291072"/>
            <a:ext cx="292608" cy="2880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TR/brand/logos/full/Full 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2103120" cy="54926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1031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FA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talk, Max.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200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F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Logan Reese Levy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58444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DE8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Officer · Cliffco Mortgage Bankers · NMLS #2502088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9502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[Logan's direct phone]  ·  [Logan's direct email]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3159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 HQ: (516) 408-7300 · 70 Charles Lindbergh Blvd, Suite 200, Uniondale, NY 11553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89788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8A87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Cliffco, Inc. is not affiliated with or acting on behalf of the FHA or any government entity. Equal Housing Lender. Corporate NMLS #65328 (nmlsconsumeraccess.org). NC Commissioner of Banks License L-211081. Logan Reese Levy, NMLS #2502088, licensed in NC, AZ, CA, FL, MN, NJ, NY, PA, SC, TN, VT. Not a commitment to lend; all loans subject to credit and underwriting approval.</a:t>
            </a:r>
            <a:endParaRPr lang="en-US" sz="950" dirty="0"/>
          </a:p>
        </p:txBody>
      </p:sp>
      <p:pic>
        <p:nvPicPr>
          <p:cNvPr id="9" name="Image 1" descr="/home/user/STR/brand/logos/EH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8695" y="5943600"/>
            <a:ext cx="502920" cy="4803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2026-10-15T17:54:30Z</dcterms:created>
  <dcterms:modified xsi:type="dcterms:W3CDTF">2026-10-15T17:54:30Z</dcterms:modified>
</cp:coreProperties>
</file>