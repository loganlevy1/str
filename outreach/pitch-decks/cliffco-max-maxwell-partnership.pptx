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TR/brand/logos/full/Full 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2377440" cy="620904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65176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PARTNERSHIP PROPOSAL</a:t>
            </a:r>
            <a:endParaRPr lang="en-US" sz="16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063240"/>
            <a:ext cx="1051560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44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 Lending Partner Built for Cash Homes Triad</a:t>
            </a:r>
            <a:endParaRPr lang="en-US" sz="4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4892040"/>
            <a:ext cx="9601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Prepared for Max Maxwell, by Logan Levy and Mario Argenzio, Loan Officers at Cliffco Mortgage Bankers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60807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A87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Cliffco, Inc.  ·  NMLS #65328  ·  Equal Housing Lender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WE ARE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36 years getting families home — especially the ones other banks turned away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5272888" cy="1554480"/>
          </a:xfrm>
          <a:prstGeom prst="roundRect">
            <a:avLst>
              <a:gd name="adj" fmla="val 7059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vision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971800"/>
            <a:ext cx="463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be the lender every family — and every investor — wishes they'd called first.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78728" y="2331720"/>
            <a:ext cx="5272888" cy="1554480"/>
          </a:xfrm>
          <a:prstGeom prst="roundRect">
            <a:avLst>
              <a:gd name="adj" fmla="val 7059"/>
            </a:avLst>
          </a:prstGeom>
          <a:solidFill>
            <a:srgbClr val="F0EE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98768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Our mission</a:t>
            </a:r>
            <a:endParaRPr lang="en-US" sz="1800" dirty="0"/>
          </a:p>
        </p:txBody>
      </p:sp>
      <p:sp>
        <p:nvSpPr>
          <p:cNvPr id="9" name="Text 7"/>
          <p:cNvSpPr txBox="1"/>
          <p:nvPr/>
        </p:nvSpPr>
        <p:spPr>
          <a:xfrm>
            <a:off x="6598768" y="2971800"/>
            <a:ext cx="46328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get people home and get deals closed. We grow their net worth — and self-worth — along the way.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40080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0080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mortgage bank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4368698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4368698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Licensed in 35 states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097317" y="4206240"/>
            <a:ext cx="3454298" cy="594360"/>
          </a:xfrm>
          <a:prstGeom prst="roundRect">
            <a:avLst>
              <a:gd name="adj" fmla="val 49231"/>
            </a:avLst>
          </a:prstGeom>
          <a:solidFill>
            <a:srgbClr val="BDE8F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8097317" y="4206240"/>
            <a:ext cx="345429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hands on every file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Cash Homes Triad</a:t>
            </a:r>
            <a:endParaRPr lang="en-US" sz="1100" dirty="0"/>
          </a:p>
        </p:txBody>
      </p:sp>
      <p:pic>
        <p:nvPicPr>
          <p:cNvPr id="17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WE'VE DONE THIS BEFORE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14300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2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We already do this successfully with educators and creators just like you.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063240"/>
            <a:ext cx="3108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$100M+</a:t>
            </a:r>
            <a:endParaRPr lang="en-US" sz="5400" dirty="0"/>
          </a:p>
        </p:txBody>
      </p:sp>
      <p:sp>
        <p:nvSpPr>
          <p:cNvPr id="5" name="Text 3"/>
          <p:cNvSpPr txBox="1"/>
          <p:nvPr/>
        </p:nvSpPr>
        <p:spPr>
          <a:xfrm>
            <a:off x="3840480" y="3063240"/>
            <a:ext cx="6858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 loan volume in the last 9 months, with borrowers from every kind of background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4160520"/>
            <a:ext cx="102412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work with real estate investing educators and their communities nationwide — financing their students with investment property, second home, and DSCR loans across every kind of borrower background. That track record is why we're reaching out directly to you.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534924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That's exactly what we want to build with Cash Homes Triad.</a:t>
            </a:r>
            <a:endParaRPr lang="en-US" sz="2000" dirty="0"/>
          </a:p>
        </p:txBody>
      </p:sp>
      <p:pic>
        <p:nvPicPr>
          <p:cNvPr id="8" name="Image 0" descr="/home/user/STR/brand/logos/icon/Icon 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WHO YOU ARE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Max Maxwell built Cash Homes Triad from the ground up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10911535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self-taught wholesaler based in Winston-Salem, NC, Max turned Cash Homes Triad into a multi-million-dollar business and has trained thousands of investors across the Carolinas and beyond — through his “Wholesaling Houses Elite” podcast and his “Wholesaling Elite Live” events.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200400"/>
            <a:ext cx="3423818" cy="2103120"/>
          </a:xfrm>
          <a:prstGeom prst="roundRect">
            <a:avLst>
              <a:gd name="adj" fmla="val 5217"/>
            </a:avLst>
          </a:prstGeom>
          <a:solidFill>
            <a:srgbClr val="F0EE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3429000"/>
            <a:ext cx="28751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NC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411480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Home base: Winston-Salem, active across the Winston-Salem/Charlotte corridor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83938" y="3200400"/>
            <a:ext cx="3423818" cy="2103120"/>
          </a:xfrm>
          <a:prstGeom prst="roundRect">
            <a:avLst>
              <a:gd name="adj" fmla="val 5217"/>
            </a:avLst>
          </a:prstGeom>
          <a:solidFill>
            <a:srgbClr val="F0EEF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658258" y="3429000"/>
            <a:ext cx="28751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1,000s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4658258" y="411480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Investors trained through his coaching, podcast, and events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127797" y="3200400"/>
            <a:ext cx="3423818" cy="2103120"/>
          </a:xfrm>
          <a:prstGeom prst="roundRect">
            <a:avLst>
              <a:gd name="adj" fmla="val 5217"/>
            </a:avLst>
          </a:prstGeom>
          <a:solidFill>
            <a:srgbClr val="F0EEF1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402117" y="3429000"/>
            <a:ext cx="287517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450+</a:t>
            </a:r>
            <a:endParaRPr lang="en-US" sz="3600" dirty="0"/>
          </a:p>
        </p:txBody>
      </p:sp>
      <p:sp>
        <p:nvSpPr>
          <p:cNvPr id="13" name="Text 11"/>
          <p:cNvSpPr txBox="1"/>
          <p:nvPr/>
        </p:nvSpPr>
        <p:spPr>
          <a:xfrm>
            <a:off x="8402117" y="4114800"/>
            <a:ext cx="287517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Investors who attended Wholesaling Elite Live in Charlotte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Cash Homes Triad</a:t>
            </a:r>
            <a:endParaRPr lang="en-US" sz="1100" dirty="0"/>
          </a:p>
        </p:txBody>
      </p:sp>
      <p:pic>
        <p:nvPicPr>
          <p:cNvPr id="15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THE OPPORTUNITY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Your students' next step is exactly what we finance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965960"/>
            <a:ext cx="10911535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Wholesaling is the entry point — but a growing share of the investors you train move from assigning contracts to keeping deals for themselves: rental property, second homes, growing portfolios. That's the moment they need a lender who already understands the deal.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3063240"/>
            <a:ext cx="5272888" cy="1737360"/>
          </a:xfrm>
          <a:prstGeom prst="roundRect">
            <a:avLst>
              <a:gd name="adj" fmla="val 6316"/>
            </a:avLst>
          </a:prstGeom>
          <a:solidFill>
            <a:srgbClr val="F0EEF1"/>
          </a:solidFill>
          <a:ln w="12700">
            <a:solidFill>
              <a:srgbClr val="E3E0E3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60120" y="329184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Today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703320"/>
            <a:ext cx="46328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named financing partner is tied to Cash Homes Triad or Wholesaling Houses Elite.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6278728" y="3063240"/>
            <a:ext cx="5272888" cy="1737360"/>
          </a:xfrm>
          <a:prstGeom prst="roundRect">
            <a:avLst>
              <a:gd name="adj" fmla="val 6316"/>
            </a:avLst>
          </a:prstGeom>
          <a:solidFill>
            <a:srgbClr val="6633CC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329184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the market's headed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3703320"/>
            <a:ext cx="463280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400" dirty="0">
                <a:solidFill>
                  <a:srgbClr val="F0EA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 Figure Flipping already promotes “built-in funding partners” as a core program benefit — audiences increasingly expect it.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507492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Nobody's claimed that seat in the Carolinas wholesaling space yet.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Cash Homes Triad</a:t>
            </a:r>
            <a:endParaRPr lang="en-US" sz="1100" dirty="0"/>
          </a:p>
        </p:txBody>
      </p:sp>
      <p:pic>
        <p:nvPicPr>
          <p:cNvPr id="13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 WE BRING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Investment financing built for how your students actually qualify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41248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Investment Property</a:t>
            </a:r>
            <a:endParaRPr lang="en-US" sz="1450" dirty="0"/>
          </a:p>
        </p:txBody>
      </p:sp>
      <p:sp>
        <p:nvSpPr>
          <p:cNvPr id="6" name="Text 4"/>
          <p:cNvSpPr txBox="1"/>
          <p:nvPr/>
        </p:nvSpPr>
        <p:spPr>
          <a:xfrm>
            <a:off x="841248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Purchase or refinance rental property, from a first door to a growing portfolio.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3436544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3637712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DSCR Loans</a:t>
            </a:r>
            <a:endParaRPr lang="en-US" sz="1450" dirty="0"/>
          </a:p>
        </p:txBody>
      </p:sp>
      <p:sp>
        <p:nvSpPr>
          <p:cNvPr id="9" name="Text 7"/>
          <p:cNvSpPr txBox="1"/>
          <p:nvPr/>
        </p:nvSpPr>
        <p:spPr>
          <a:xfrm>
            <a:off x="3637712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Qualify off the property's cash flow, not personal income or tax returns.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233008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6434176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Second Home</a:t>
            </a:r>
            <a:endParaRPr lang="en-US" sz="1450" dirty="0"/>
          </a:p>
        </p:txBody>
      </p:sp>
      <p:sp>
        <p:nvSpPr>
          <p:cNvPr id="12" name="Text 10"/>
          <p:cNvSpPr txBox="1"/>
          <p:nvPr/>
        </p:nvSpPr>
        <p:spPr>
          <a:xfrm>
            <a:off x="6434176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For students diversifying into second-home and vacation-market purchases.</a:t>
            </a:r>
            <a:endParaRPr lang="en-US" sz="1250" dirty="0"/>
          </a:p>
        </p:txBody>
      </p:sp>
      <p:sp>
        <p:nvSpPr>
          <p:cNvPr id="13" name="Shape 11"/>
          <p:cNvSpPr/>
          <p:nvPr/>
        </p:nvSpPr>
        <p:spPr>
          <a:xfrm>
            <a:off x="9029471" y="2331720"/>
            <a:ext cx="2522144" cy="2331720"/>
          </a:xfrm>
          <a:prstGeom prst="roundRect">
            <a:avLst>
              <a:gd name="adj" fmla="val 3922"/>
            </a:avLst>
          </a:prstGeom>
          <a:solidFill>
            <a:srgbClr val="0D0D0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230639" y="2587752"/>
            <a:ext cx="2119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50" b="1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Built For Every Background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9230639" y="3383280"/>
            <a:ext cx="2119808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2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Programs for self-employed, 1099, foreign-national, and credit-rebuilding borrowers — not just W-2 employees.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493776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lender, a full product shelf — built to qualify investors from every kind of financial background.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64008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Cash Homes Triad</a:t>
            </a:r>
            <a:endParaRPr lang="en-US" sz="1100" dirty="0"/>
          </a:p>
        </p:txBody>
      </p:sp>
      <p:pic>
        <p:nvPicPr>
          <p:cNvPr id="18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LOCAL &amp; LICENSED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Not a fly-in sponsor — a lender who can actually close in North Carolina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640080" y="2331720"/>
            <a:ext cx="5272888" cy="1828800"/>
          </a:xfrm>
          <a:prstGeom prst="roundRect">
            <a:avLst>
              <a:gd name="adj" fmla="val 6000"/>
            </a:avLst>
          </a:prstGeom>
          <a:solidFill>
            <a:srgbClr val="BDE8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60120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Cliffco, Inc.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971800"/>
            <a:ext cx="4632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50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Licensed by the NC Commissioner of Banks, License L-211081, under Corporate NMLS #65328.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6278728" y="2331720"/>
            <a:ext cx="5272888" cy="1828800"/>
          </a:xfrm>
          <a:prstGeom prst="roundRect">
            <a:avLst>
              <a:gd name="adj" fmla="val 6000"/>
            </a:avLst>
          </a:prstGeom>
          <a:solidFill>
            <a:srgbClr val="BDE8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598768" y="2560320"/>
            <a:ext cx="463280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Logan Levy &amp; Mario Argenzio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598768" y="2971800"/>
            <a:ext cx="4632808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NMLS #2502088 (Logan) and #1869384 (Mario) — both personally licensed in North Carolina, among other states.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4434840"/>
            <a:ext cx="1091153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loan we'd close for your students runs through a licensed North Carolina lender and a loan officer who is personally licensed in your state — not a national call center.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Cash Homes Triad</a:t>
            </a:r>
            <a:endParaRPr lang="en-US" sz="1100" dirty="0"/>
          </a:p>
        </p:txBody>
      </p:sp>
      <p:pic>
        <p:nvPicPr>
          <p:cNvPr id="12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WAYS TO PARTNER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Start small. Scale if it works.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522144" cy="2834640"/>
          </a:xfrm>
          <a:prstGeom prst="roundRect">
            <a:avLst>
              <a:gd name="adj" fmla="val 4351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868680" y="2249424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 · OFFICE HOURS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706624"/>
            <a:ext cx="2064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Already a proven rhythm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346704"/>
            <a:ext cx="20649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Twice a week, a Cliffco loan officer sits in on live office hours with an educator partner's members, answering financing questions in real time — we'd bring that same cadence to Cash Homes Triad and Wholesaling Houses Elite.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436544" y="2011680"/>
            <a:ext cx="2522144" cy="2834640"/>
          </a:xfrm>
          <a:prstGeom prst="roundRect">
            <a:avLst>
              <a:gd name="adj" fmla="val 4351"/>
            </a:avLst>
          </a:prstGeom>
          <a:solidFill>
            <a:srgbClr val="F0EEF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665144" y="2249424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 · CO-MARKETING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3665144" y="2706624"/>
            <a:ext cx="2064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Low commitment to start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3665144" y="3346704"/>
            <a:ext cx="20649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shows up where your community already is — content, placements, or a dedicated resource for your audience.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33008" y="2011680"/>
            <a:ext cx="2522144" cy="2834640"/>
          </a:xfrm>
          <a:prstGeom prst="roundRect">
            <a:avLst>
              <a:gd name="adj" fmla="val 4351"/>
            </a:avLst>
          </a:prstGeom>
          <a:solidFill>
            <a:srgbClr val="F0EE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461608" y="2249424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 · EDUCATIONAL CONTENT</a:t>
            </a:r>
            <a:endParaRPr lang="en-US" sz="1150" dirty="0"/>
          </a:p>
        </p:txBody>
      </p:sp>
      <p:sp>
        <p:nvSpPr>
          <p:cNvPr id="14" name="Text 12"/>
          <p:cNvSpPr txBox="1"/>
          <p:nvPr/>
        </p:nvSpPr>
        <p:spPr>
          <a:xfrm>
            <a:off x="6461608" y="2706624"/>
            <a:ext cx="2064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Built together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6461608" y="3346704"/>
            <a:ext cx="20649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Co-create a financing lesson or segment inside Wholesaling Houses Elite or your events.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029471" y="2011680"/>
            <a:ext cx="2522144" cy="2834640"/>
          </a:xfrm>
          <a:prstGeom prst="roundRect">
            <a:avLst>
              <a:gd name="adj" fmla="val 4351"/>
            </a:avLst>
          </a:prstGeom>
          <a:solidFill>
            <a:srgbClr val="F0EEF1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258071" y="2249424"/>
            <a:ext cx="206494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spc="5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 · EVENT &amp; CONTENT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9258071" y="2706624"/>
            <a:ext cx="2064944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In front of your room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9258071" y="3346704"/>
            <a:ext cx="206494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3D404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Sponsor Wholesaling Elite Live, guest on the podcast, or co-host a financing webinar for your audience.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Cash Homes Triad</a:t>
            </a:r>
            <a:endParaRPr lang="en-US" sz="1100" dirty="0"/>
          </a:p>
        </p:txBody>
      </p:sp>
      <p:pic>
        <p:nvPicPr>
          <p:cNvPr id="21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WHERE CLIFFCO FITS IN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28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Four steps from your classroom to a closed loan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1112368" y="2148840"/>
            <a:ext cx="2148840" cy="1828800"/>
          </a:xfrm>
          <a:prstGeom prst="roundRect">
            <a:avLst>
              <a:gd name="adj" fmla="val 5000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313536" y="2350008"/>
            <a:ext cx="1746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1313536" y="2926080"/>
            <a:ext cx="1746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learns to wholesale with Max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3279496" y="2935224"/>
            <a:ext cx="420624" cy="256032"/>
          </a:xfrm>
          <a:prstGeom prst="rightArrow">
            <a:avLst/>
          </a:prstGeom>
          <a:solidFill>
            <a:srgbClr val="6633CC"/>
          </a:solidFill>
          <a:ln/>
        </p:spPr>
      </p:sp>
      <p:sp>
        <p:nvSpPr>
          <p:cNvPr id="8" name="Shape 6"/>
          <p:cNvSpPr/>
          <p:nvPr/>
        </p:nvSpPr>
        <p:spPr>
          <a:xfrm>
            <a:off x="3718408" y="2148840"/>
            <a:ext cx="2148840" cy="1828800"/>
          </a:xfrm>
          <a:prstGeom prst="roundRect">
            <a:avLst>
              <a:gd name="adj" fmla="val 5000"/>
            </a:avLst>
          </a:prstGeom>
          <a:solidFill>
            <a:srgbClr val="F0EEF1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3919576" y="2350008"/>
            <a:ext cx="1746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02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3919576" y="2926080"/>
            <a:ext cx="1746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decides to keep a deal instead of wholesaling it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885536" y="2935224"/>
            <a:ext cx="420624" cy="256032"/>
          </a:xfrm>
          <a:prstGeom prst="rightArrow">
            <a:avLst/>
          </a:prstGeom>
          <a:solidFill>
            <a:srgbClr val="6633CC"/>
          </a:solidFill>
          <a:ln/>
        </p:spPr>
      </p:sp>
      <p:sp>
        <p:nvSpPr>
          <p:cNvPr id="12" name="Shape 10"/>
          <p:cNvSpPr/>
          <p:nvPr/>
        </p:nvSpPr>
        <p:spPr>
          <a:xfrm>
            <a:off x="6324448" y="2148840"/>
            <a:ext cx="2148840" cy="1828800"/>
          </a:xfrm>
          <a:prstGeom prst="roundRect">
            <a:avLst>
              <a:gd name="adj" fmla="val 5000"/>
            </a:avLst>
          </a:prstGeom>
          <a:solidFill>
            <a:srgbClr val="F0EEF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25616" y="2350008"/>
            <a:ext cx="1746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03</a:t>
            </a:r>
            <a:endParaRPr lang="en-US" sz="2600" dirty="0"/>
          </a:p>
        </p:txBody>
      </p:sp>
      <p:sp>
        <p:nvSpPr>
          <p:cNvPr id="14" name="Text 12"/>
          <p:cNvSpPr txBox="1"/>
          <p:nvPr/>
        </p:nvSpPr>
        <p:spPr>
          <a:xfrm>
            <a:off x="6525616" y="2926080"/>
            <a:ext cx="1746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 comes to Cliffco for financing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8491576" y="2935224"/>
            <a:ext cx="420624" cy="256032"/>
          </a:xfrm>
          <a:prstGeom prst="rightArrow">
            <a:avLst/>
          </a:prstGeom>
          <a:solidFill>
            <a:srgbClr val="6633CC"/>
          </a:solidFill>
          <a:ln/>
        </p:spPr>
      </p:sp>
      <p:sp>
        <p:nvSpPr>
          <p:cNvPr id="16" name="Shape 14"/>
          <p:cNvSpPr/>
          <p:nvPr/>
        </p:nvSpPr>
        <p:spPr>
          <a:xfrm>
            <a:off x="8930488" y="2148840"/>
            <a:ext cx="2148840" cy="1828800"/>
          </a:xfrm>
          <a:prstGeom prst="roundRect">
            <a:avLst>
              <a:gd name="adj" fmla="val 5000"/>
            </a:avLst>
          </a:prstGeom>
          <a:solidFill>
            <a:srgbClr val="6633C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9131656" y="2350008"/>
            <a:ext cx="17465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04</a:t>
            </a:r>
            <a:endParaRPr lang="en-US" sz="2600" dirty="0"/>
          </a:p>
        </p:txBody>
      </p:sp>
      <p:sp>
        <p:nvSpPr>
          <p:cNvPr id="18" name="Text 16"/>
          <p:cNvSpPr txBox="1"/>
          <p:nvPr/>
        </p:nvSpPr>
        <p:spPr>
          <a:xfrm>
            <a:off x="9131656" y="2926080"/>
            <a:ext cx="174650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BF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closes the loan, with Max's team kept in the loop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4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We'll walk through exactly how a partnership could work on our call — nothing to commit to here.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Cash Homes Triad</a:t>
            </a:r>
            <a:endParaRPr lang="en-US" sz="1100" dirty="0"/>
          </a:p>
        </p:txBody>
      </p:sp>
      <p:pic>
        <p:nvPicPr>
          <p:cNvPr id="21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BDE8F1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WHAT'S IN IT FOR YOU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9728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You stay the trusted voice. We do the underwriting.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148840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5" name="Shape 3"/>
          <p:cNvSpPr/>
          <p:nvPr/>
        </p:nvSpPr>
        <p:spPr>
          <a:xfrm>
            <a:off x="914400" y="2336292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23362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1508760" y="2148840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real financing answer for students who get stuck once an assignment falls through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40080" y="3090672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9" name="Shape 7"/>
          <p:cNvSpPr/>
          <p:nvPr/>
        </p:nvSpPr>
        <p:spPr>
          <a:xfrm>
            <a:off x="914400" y="3278124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914400" y="327812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1508760" y="3090672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Referral or sponsorship revenue with no added workload on your team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640080" y="4032504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13" name="Shape 11"/>
          <p:cNvSpPr/>
          <p:nvPr/>
        </p:nvSpPr>
        <p:spPr>
          <a:xfrm>
            <a:off x="914400" y="4219956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914400" y="421995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1508760" y="4032504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handles compliance, underwriting, and closing — you stay the face your students trust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640080" y="4974336"/>
            <a:ext cx="10911535" cy="777240"/>
          </a:xfrm>
          <a:prstGeom prst="roundRect">
            <a:avLst>
              <a:gd name="adj" fmla="val 11765"/>
            </a:avLst>
          </a:prstGeom>
          <a:solidFill>
            <a:srgbClr val="1A1A1A"/>
          </a:solidFill>
          <a:ln/>
        </p:spPr>
      </p:sp>
      <p:sp>
        <p:nvSpPr>
          <p:cNvPr id="17" name="Shape 15"/>
          <p:cNvSpPr/>
          <p:nvPr/>
        </p:nvSpPr>
        <p:spPr>
          <a:xfrm>
            <a:off x="914400" y="5161788"/>
            <a:ext cx="402336" cy="402336"/>
          </a:xfrm>
          <a:prstGeom prst="ellipse">
            <a:avLst/>
          </a:prstGeom>
          <a:solidFill>
            <a:srgbClr val="BDE8F1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516178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1508760" y="4974336"/>
            <a:ext cx="976853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0EE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First-mover positioning — no lender has claimed this seat in Carolinas wholesaling education yet</a:t>
            </a:r>
            <a:endParaRPr lang="en-US" sz="1500" dirty="0"/>
          </a:p>
        </p:txBody>
      </p:sp>
      <p:pic>
        <p:nvPicPr>
          <p:cNvPr id="20" name="Image 0" descr="/home/user/STR/brand/logos/icon/Icon 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BFA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400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NEXT STEPS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5156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000" b="1" dirty="0">
                <a:solidFill>
                  <a:srgbClr val="0D0D0D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Three steps to a pilot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05740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914400" y="205740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1</a:t>
            </a:r>
            <a:endParaRPr lang="en-US" sz="3000" dirty="0"/>
          </a:p>
        </p:txBody>
      </p:sp>
      <p:sp>
        <p:nvSpPr>
          <p:cNvPr id="6" name="Text 4"/>
          <p:cNvSpPr txBox="1"/>
          <p:nvPr/>
        </p:nvSpPr>
        <p:spPr>
          <a:xfrm>
            <a:off x="1691640" y="205740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20-minute intro call — walk through how your students take down deals today</a:t>
            </a:r>
            <a:endParaRPr lang="en-US" sz="1550" dirty="0"/>
          </a:p>
        </p:txBody>
      </p:sp>
      <p:sp>
        <p:nvSpPr>
          <p:cNvPr id="7" name="Shape 5"/>
          <p:cNvSpPr/>
          <p:nvPr/>
        </p:nvSpPr>
        <p:spPr>
          <a:xfrm>
            <a:off x="640080" y="310896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914400" y="310896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2</a:t>
            </a:r>
            <a:endParaRPr lang="en-US" sz="3000" dirty="0"/>
          </a:p>
        </p:txBody>
      </p:sp>
      <p:sp>
        <p:nvSpPr>
          <p:cNvPr id="9" name="Text 7"/>
          <p:cNvSpPr txBox="1"/>
          <p:nvPr/>
        </p:nvSpPr>
        <p:spPr>
          <a:xfrm>
            <a:off x="1691640" y="310896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 the partnership — we'll walk through compensation and structure together</a:t>
            </a:r>
            <a:endParaRPr lang="en-US" sz="1550" dirty="0"/>
          </a:p>
        </p:txBody>
      </p:sp>
      <p:sp>
        <p:nvSpPr>
          <p:cNvPr id="10" name="Shape 8"/>
          <p:cNvSpPr/>
          <p:nvPr/>
        </p:nvSpPr>
        <p:spPr>
          <a:xfrm>
            <a:off x="640080" y="4160520"/>
            <a:ext cx="10911535" cy="868680"/>
          </a:xfrm>
          <a:prstGeom prst="roundRect">
            <a:avLst>
              <a:gd name="adj" fmla="val 10526"/>
            </a:avLst>
          </a:prstGeom>
          <a:solidFill>
            <a:srgbClr val="F0EEF1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914400" y="4160520"/>
            <a:ext cx="6858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3</a:t>
            </a:r>
            <a:endParaRPr lang="en-US" sz="3000" dirty="0"/>
          </a:p>
        </p:txBody>
      </p:sp>
      <p:sp>
        <p:nvSpPr>
          <p:cNvPr id="12" name="Text 10"/>
          <p:cNvSpPr txBox="1"/>
          <p:nvPr/>
        </p:nvSpPr>
        <p:spPr>
          <a:xfrm>
            <a:off x="1691640" y="4160520"/>
            <a:ext cx="953993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550" dirty="0">
                <a:solidFill>
                  <a:srgbClr val="0D0D0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it — a guest episode on Wholesaling Houses Elite, or sponsorship at the next Wholesaling Elite Live</a:t>
            </a:r>
            <a:endParaRPr lang="en-US" sz="1550" dirty="0"/>
          </a:p>
        </p:txBody>
      </p:sp>
      <p:sp>
        <p:nvSpPr>
          <p:cNvPr id="13" name="Text 11"/>
          <p:cNvSpPr txBox="1"/>
          <p:nvPr/>
        </p:nvSpPr>
        <p:spPr>
          <a:xfrm>
            <a:off x="640080" y="5349240"/>
            <a:ext cx="1091153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6633CC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put that same track record to work — for Cash Homes Triad.</a:t>
            </a:r>
            <a:endParaRPr 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6355080"/>
            <a:ext cx="6400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5D5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Mortgage Bankers × Cash Homes Triad</a:t>
            </a:r>
            <a:endParaRPr lang="en-US" sz="1100" dirty="0"/>
          </a:p>
        </p:txBody>
      </p:sp>
      <p:pic>
        <p:nvPicPr>
          <p:cNvPr id="15" name="Image 0" descr="/home/user/STR/brand/logos/icon/Icon Black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259007" y="6291072"/>
            <a:ext cx="292608" cy="28803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STR/brand/logos/full/Full Logo_Whit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502920"/>
            <a:ext cx="2103120" cy="549261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640080" y="2103120"/>
            <a:ext cx="9144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BFAF8"/>
                </a:solidFill>
                <a:latin typeface="Montserrat" pitchFamily="34" charset="0"/>
                <a:ea typeface="Montserrat" pitchFamily="34" charset="-122"/>
                <a:cs typeface="Montserrat" pitchFamily="34" charset="-120"/>
              </a:rPr>
              <a:t>Let's talk, Max.</a:t>
            </a:r>
            <a:endParaRPr lang="en-US" sz="4000" dirty="0"/>
          </a:p>
        </p:txBody>
      </p:sp>
      <p:sp>
        <p:nvSpPr>
          <p:cNvPr id="4" name="Text 1"/>
          <p:cNvSpPr txBox="1"/>
          <p:nvPr/>
        </p:nvSpPr>
        <p:spPr>
          <a:xfrm>
            <a:off x="640080" y="32004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BF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Logan Levy</a:t>
            </a:r>
            <a:endParaRPr lang="en-US" sz="19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5661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DE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 Officer · Cliffco Mortgage Bankers · NMLS #2502088</a:t>
            </a:r>
            <a:endParaRPr lang="en-US" sz="135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39136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[Logan's direct phone]  ·  [Logan's direct email]</a:t>
            </a:r>
            <a:endParaRPr lang="en-US" sz="1350" dirty="0"/>
          </a:p>
        </p:txBody>
      </p:sp>
      <p:sp>
        <p:nvSpPr>
          <p:cNvPr id="7" name="Text 4"/>
          <p:cNvSpPr txBox="1"/>
          <p:nvPr/>
        </p:nvSpPr>
        <p:spPr>
          <a:xfrm>
            <a:off x="5852160" y="32004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FBFA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Mario Argenzio</a:t>
            </a:r>
            <a:endParaRPr lang="en-US" sz="1900" dirty="0"/>
          </a:p>
        </p:txBody>
      </p:sp>
      <p:sp>
        <p:nvSpPr>
          <p:cNvPr id="8" name="Text 5"/>
          <p:cNvSpPr txBox="1"/>
          <p:nvPr/>
        </p:nvSpPr>
        <p:spPr>
          <a:xfrm>
            <a:off x="5852160" y="35661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BDE8F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Loan Officer · Cliffco Mortgage Bankers · NMLS #1869384</a:t>
            </a:r>
            <a:endParaRPr lang="en-US" sz="1350" dirty="0"/>
          </a:p>
        </p:txBody>
      </p:sp>
      <p:sp>
        <p:nvSpPr>
          <p:cNvPr id="9" name="Text 6"/>
          <p:cNvSpPr txBox="1"/>
          <p:nvPr/>
        </p:nvSpPr>
        <p:spPr>
          <a:xfrm>
            <a:off x="5852160" y="3913632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[Mario's direct phone]  ·  [Mario's direct email]</a:t>
            </a:r>
            <a:endParaRPr lang="en-US" sz="1350" dirty="0"/>
          </a:p>
        </p:txBody>
      </p:sp>
      <p:sp>
        <p:nvSpPr>
          <p:cNvPr id="10" name="Text 7"/>
          <p:cNvSpPr txBox="1"/>
          <p:nvPr/>
        </p:nvSpPr>
        <p:spPr>
          <a:xfrm>
            <a:off x="640080" y="4389120"/>
            <a:ext cx="9601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D9D5E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 HQ: (516) 408-7300 · 70 Charles Lindbergh Blvd, Suite 200, Uniondale, NY 11553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640080" y="5852160"/>
            <a:ext cx="99669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850" dirty="0">
                <a:solidFill>
                  <a:srgbClr val="8A879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Cliffco, Inc. is not affiliated with or acting on behalf of the FHA or any government entity. Equal Housing Lender. Corporate NMLS #65328 (nmlsconsumeraccess.org). NC Commissioner of Banks License L-211081. Logan Levy, NMLS #2502088, licensed in NC, AZ, CA, FL, MN, NJ, NY, PA, SC, TN, VT. Mario Argenzio, NMLS #1869384, licensed in NC, AZ, CA, CO, CT, FL, GA, IA, MN, NJ, NY, OK, PA, SC, TN, VA. Not a commitment to lend; all loans subject to credit and underwriting approval.</a:t>
            </a:r>
            <a:endParaRPr lang="en-US" sz="850" dirty="0"/>
          </a:p>
        </p:txBody>
      </p:sp>
      <p:pic>
        <p:nvPicPr>
          <p:cNvPr id="12" name="Image 1" descr="/home/user/STR/brand/logos/EHO_Whi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048695" y="5943600"/>
            <a:ext cx="502920" cy="480344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2026-10-15T18:19:17Z</dcterms:created>
  <dcterms:modified xsi:type="dcterms:W3CDTF">2026-10-15T18:19:17Z</dcterms:modified>
</cp:coreProperties>
</file>