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TR/brand/logos/full/Full 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2377440" cy="62090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265176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PARTNERSHIP PROPOSAL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306324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FBF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Lending Partner Built for BNB Investor Academy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48920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for Michael Elefante, by Logan Reese Levy, Loan Officer at Cliffco Mortgage Bankers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6080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7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Cliffco, Inc.  ·  NMLS #65328  ·  Equal Housing Lender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WHO WE ARE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36 years getting families home — especially the ones other banks turned away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331720"/>
            <a:ext cx="5272888" cy="1554480"/>
          </a:xfrm>
          <a:prstGeom prst="roundRect">
            <a:avLst>
              <a:gd name="adj" fmla="val 7059"/>
            </a:avLst>
          </a:prstGeom>
          <a:solidFill>
            <a:srgbClr val="F0EEF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56032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Our vision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971800"/>
            <a:ext cx="46328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be the lender every family — and every investor — wishes they'd called first.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78728" y="2331720"/>
            <a:ext cx="5272888" cy="1554480"/>
          </a:xfrm>
          <a:prstGeom prst="roundRect">
            <a:avLst>
              <a:gd name="adj" fmla="val 7059"/>
            </a:avLst>
          </a:prstGeom>
          <a:solidFill>
            <a:srgbClr val="F0EEF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98768" y="256032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Our mission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598768" y="2971800"/>
            <a:ext cx="46328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get people home and get deals closed. We grow their net worth — and self-worth — along the way.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4206240"/>
            <a:ext cx="3454298" cy="594360"/>
          </a:xfrm>
          <a:prstGeom prst="roundRect">
            <a:avLst>
              <a:gd name="adj" fmla="val 49231"/>
            </a:avLst>
          </a:prstGeom>
          <a:solidFill>
            <a:srgbClr val="BDE8F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4206240"/>
            <a:ext cx="345429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 mortgage bank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68698" y="4206240"/>
            <a:ext cx="3454298" cy="594360"/>
          </a:xfrm>
          <a:prstGeom prst="roundRect">
            <a:avLst>
              <a:gd name="adj" fmla="val 49231"/>
            </a:avLst>
          </a:prstGeom>
          <a:solidFill>
            <a:srgbClr val="BDE8F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368698" y="4206240"/>
            <a:ext cx="345429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Licensed in 35 states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97317" y="4206240"/>
            <a:ext cx="3454298" cy="594360"/>
          </a:xfrm>
          <a:prstGeom prst="roundRect">
            <a:avLst>
              <a:gd name="adj" fmla="val 49231"/>
            </a:avLst>
          </a:prstGeom>
          <a:solidFill>
            <a:srgbClr val="BDE8F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097317" y="4206240"/>
            <a:ext cx="345429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hands on every file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BNB Investor Academy</a:t>
            </a:r>
            <a:endParaRPr lang="en-US" sz="1100" dirty="0"/>
          </a:p>
        </p:txBody>
      </p:sp>
      <p:pic>
        <p:nvPicPr>
          <p:cNvPr id="17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WE'VE DONE THIS BEFORE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43000"/>
            <a:ext cx="109115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FBF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 already do this successfully with educators and creators just like you.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06324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$100M+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3840480" y="3063240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closed loan volume in the last 9 months, with borrowers from every kind of background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160520"/>
            <a:ext cx="10241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work with real estate investing educators and their communities nationwide — financing their students with investment property, second home, and DSCR loans across every kind of borrower background. That track record is why we're reaching out directly to you.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5349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That's exactly what we want to build with BNB Investor Academy.</a:t>
            </a:r>
            <a:endParaRPr lang="en-US" sz="2000" dirty="0"/>
          </a:p>
        </p:txBody>
      </p:sp>
      <p:pic>
        <p:nvPicPr>
          <p:cNvPr id="8" name="Image 0" descr="/home/user/STR/brand/logos/icon/Icon 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WHO YOU ARE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Michael Elefante turned one Airbnb into a 7-figure business — then built a classroom around it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057400"/>
            <a:ext cx="109115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Michael and his wife Jill built a seven-figure short-term rental business in three years — nine properties and a claimed $1.5M in 2024 bookings. He wrote the book on it (“Investing in Short-Term Rentals: The Fast Path to Financial Freedom”) and turned the playbook into BNB Investor Academy, a mentorship that walks students through acquisition, design, and setup.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3337560"/>
            <a:ext cx="3423818" cy="2011680"/>
          </a:xfrm>
          <a:prstGeom prst="roundRect">
            <a:avLst>
              <a:gd name="adj" fmla="val 5455"/>
            </a:avLst>
          </a:prstGeom>
          <a:solidFill>
            <a:srgbClr val="F0EEF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96112" y="3557016"/>
            <a:ext cx="291175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4206240"/>
            <a:ext cx="291175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Properties in the Elefantes' own STR portfolio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83938" y="3337560"/>
            <a:ext cx="3423818" cy="2011680"/>
          </a:xfrm>
          <a:prstGeom prst="roundRect">
            <a:avLst>
              <a:gd name="adj" fmla="val 5455"/>
            </a:avLst>
          </a:prstGeom>
          <a:solidFill>
            <a:srgbClr val="F0EEF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639970" y="3557016"/>
            <a:ext cx="291175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$1.5M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4639970" y="4206240"/>
            <a:ext cx="291175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Claimed 2024 booking revenue across their portfolio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127797" y="3337560"/>
            <a:ext cx="3423818" cy="2011680"/>
          </a:xfrm>
          <a:prstGeom prst="roundRect">
            <a:avLst>
              <a:gd name="adj" fmla="val 5455"/>
            </a:avLst>
          </a:prstGeom>
          <a:solidFill>
            <a:srgbClr val="F0EEF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383829" y="3557016"/>
            <a:ext cx="291175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$10-12K</a:t>
            </a: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8383829" y="4206240"/>
            <a:ext cx="291175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BNB Investor Academy mentorship price point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BNB Investor Academy</a:t>
            </a:r>
            <a:endParaRPr lang="en-US" sz="1100" dirty="0"/>
          </a:p>
        </p:txBody>
      </p:sp>
      <p:pic>
        <p:nvPicPr>
          <p:cNvPr id="15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OPPORTUNITY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Your students are mid-acquisition exactly when they need us most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057400"/>
            <a:ext cx="109115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BNB Investor Academy teaches acquisition, design, and setup end to end — which means every cohort has students actively shopping for, financing, and closing on STR properties in real time. No named financing partner shows up anywhere in the academy's public materials.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3154680"/>
            <a:ext cx="5272888" cy="1691640"/>
          </a:xfrm>
          <a:prstGeom prst="roundRect">
            <a:avLst>
              <a:gd name="adj" fmla="val 6486"/>
            </a:avLst>
          </a:prstGeom>
          <a:solidFill>
            <a:srgbClr val="F0EEF1"/>
          </a:solidFill>
          <a:ln w="12700">
            <a:solidFill>
              <a:srgbClr val="E3E0E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338328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Today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3794760"/>
            <a:ext cx="46328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named lender is built into BNB Investor Academy's curriculum or community.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8728" y="3154680"/>
            <a:ext cx="5272888" cy="1691640"/>
          </a:xfrm>
          <a:prstGeom prst="roundRect">
            <a:avLst>
              <a:gd name="adj" fmla="val 6486"/>
            </a:avLst>
          </a:prstGeom>
          <a:solidFill>
            <a:srgbClr val="6633C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98768" y="338328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BF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Where the market's headed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598768" y="3794760"/>
            <a:ext cx="46328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0E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Programs like 7 Figure Flipping already bake a financing partner into the pitch — audiences increasingly expect it.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5120640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Nobody's claimed that seat inside BNB Investor Academy yet.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BNB Investor Academy</a:t>
            </a:r>
            <a:endParaRPr lang="en-US" sz="1100" dirty="0"/>
          </a:p>
        </p:txBody>
      </p:sp>
      <p:pic>
        <p:nvPicPr>
          <p:cNvPr id="13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WE BRING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Investment financing built for how your audience actually qualifies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2331720"/>
            <a:ext cx="2522144" cy="2331720"/>
          </a:xfrm>
          <a:prstGeom prst="roundRect">
            <a:avLst>
              <a:gd name="adj" fmla="val 3922"/>
            </a:avLst>
          </a:prstGeom>
          <a:solidFill>
            <a:srgbClr val="0D0D0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41248" y="2587752"/>
            <a:ext cx="2119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Investment Property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3383280"/>
            <a:ext cx="2119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Purchase or refinance rental property, from a first door to a growing portfolio.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36544" y="2331720"/>
            <a:ext cx="2522144" cy="2331720"/>
          </a:xfrm>
          <a:prstGeom prst="roundRect">
            <a:avLst>
              <a:gd name="adj" fmla="val 3922"/>
            </a:avLst>
          </a:prstGeom>
          <a:solidFill>
            <a:srgbClr val="0D0D0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37712" y="2587752"/>
            <a:ext cx="2119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DSCR Loans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3637712" y="3383280"/>
            <a:ext cx="2119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Qualify off the property's cash flow, not personal income or tax returns.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2331720"/>
            <a:ext cx="2522144" cy="2331720"/>
          </a:xfrm>
          <a:prstGeom prst="roundRect">
            <a:avLst>
              <a:gd name="adj" fmla="val 3922"/>
            </a:avLst>
          </a:prstGeom>
          <a:solidFill>
            <a:srgbClr val="0D0D0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34176" y="2587752"/>
            <a:ext cx="2119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Second Home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383280"/>
            <a:ext cx="2119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buyers diversifying into second-home and vacation-market purchases.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29471" y="2331720"/>
            <a:ext cx="2522144" cy="2331720"/>
          </a:xfrm>
          <a:prstGeom prst="roundRect">
            <a:avLst>
              <a:gd name="adj" fmla="val 3922"/>
            </a:avLst>
          </a:prstGeom>
          <a:solidFill>
            <a:srgbClr val="0D0D0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230639" y="2587752"/>
            <a:ext cx="2119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Built For Every Background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9230639" y="3383280"/>
            <a:ext cx="2119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Programs for self-employed, 1099, foreign-national, and credit-rebuilding borrowers — not just W-2 employees.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493776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lender, a full product shelf — built for exactly the kind of purchase your academy teaches.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BNB Investor Academy</a:t>
            </a:r>
            <a:endParaRPr lang="en-US" sz="1100" dirty="0"/>
          </a:p>
        </p:txBody>
      </p:sp>
      <p:pic>
        <p:nvPicPr>
          <p:cNvPr id="18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LOCAL &amp; LICENSED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Nationwide reach, not a one-city sponsor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2331720"/>
            <a:ext cx="5272888" cy="1828800"/>
          </a:xfrm>
          <a:prstGeom prst="roundRect">
            <a:avLst>
              <a:gd name="adj" fmla="val 6000"/>
            </a:avLst>
          </a:prstGeom>
          <a:solidFill>
            <a:srgbClr val="BDE8F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56032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Cliffco, Inc.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971800"/>
            <a:ext cx="46328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Licensed as a mortgage banker in 35 states, closing investor loans coast to coast with real, licensed loan officers on every file.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78728" y="2331720"/>
            <a:ext cx="5272888" cy="1828800"/>
          </a:xfrm>
          <a:prstGeom prst="roundRect">
            <a:avLst>
              <a:gd name="adj" fmla="val 6000"/>
            </a:avLst>
          </a:prstGeom>
          <a:solidFill>
            <a:srgbClr val="BDE8F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98768" y="256032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Logan Reese Levy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598768" y="2971800"/>
            <a:ext cx="46328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NMLS #2502088, personally licensed in 11 states — AZ, CA, FL, MN, NC, NJ, NY, PA, SC, TN, and VT.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443484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Wherever your students are buying, there's a real, licensed loan officer on the other end of the call — not a call center.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BNB Investor Academy</a:t>
            </a:r>
            <a:endParaRPr lang="en-US" sz="1100" dirty="0"/>
          </a:p>
        </p:txBody>
      </p:sp>
      <p:pic>
        <p:nvPicPr>
          <p:cNvPr id="12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THREE WAYS TO PARTNER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Start small. Scale if it works.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3393338" cy="2834640"/>
          </a:xfrm>
          <a:prstGeom prst="roundRect">
            <a:avLst>
              <a:gd name="adj" fmla="val 3871"/>
            </a:avLst>
          </a:prstGeom>
          <a:solidFill>
            <a:srgbClr val="F0EEF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267712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 · PREFERRED LENDER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761488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Named inside the academy</a:t>
            </a:r>
            <a:endParaRPr lang="en-US" sz="165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291840"/>
            <a:ext cx="284469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named as BNB Investor Academy's recommended financing partner for the acquisition module.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99178" y="2011680"/>
            <a:ext cx="3393338" cy="2834640"/>
          </a:xfrm>
          <a:prstGeom prst="roundRect">
            <a:avLst>
              <a:gd name="adj" fmla="val 3871"/>
            </a:avLst>
          </a:prstGeom>
          <a:solidFill>
            <a:srgbClr val="F0EEF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673498" y="2267712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 · AFFILIATE / REFERRAL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673498" y="2761488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Lowest-friction start</a:t>
            </a:r>
            <a:endParaRPr lang="en-US" sz="1650" dirty="0"/>
          </a:p>
        </p:txBody>
      </p:sp>
      <p:sp>
        <p:nvSpPr>
          <p:cNvPr id="11" name="Text 9"/>
          <p:cNvSpPr txBox="1"/>
          <p:nvPr/>
        </p:nvSpPr>
        <p:spPr>
          <a:xfrm>
            <a:off x="4673498" y="3291840"/>
            <a:ext cx="284469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flat payout per closed loan referred from your mentorship cohorts — no exclusivity, no upfront cost.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58277" y="2011680"/>
            <a:ext cx="3393338" cy="2834640"/>
          </a:xfrm>
          <a:prstGeom prst="roundRect">
            <a:avLst>
              <a:gd name="adj" fmla="val 3871"/>
            </a:avLst>
          </a:prstGeom>
          <a:solidFill>
            <a:srgbClr val="F0EEF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32597" y="2267712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 · CONTENT PARTNER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432597" y="2761488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financing module, co-built</a:t>
            </a:r>
            <a:endParaRPr lang="en-US" sz="1650" dirty="0"/>
          </a:p>
        </p:txBody>
      </p:sp>
      <p:sp>
        <p:nvSpPr>
          <p:cNvPr id="15" name="Text 13"/>
          <p:cNvSpPr txBox="1"/>
          <p:nvPr/>
        </p:nvSpPr>
        <p:spPr>
          <a:xfrm>
            <a:off x="8432597" y="3291840"/>
            <a:ext cx="284469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Co-create the financing lesson inside the academy curriculum, or guest on your podcast circuit.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BNB Investor Academy</a:t>
            </a:r>
            <a:endParaRPr lang="en-US" sz="1100" dirty="0"/>
          </a:p>
        </p:txBody>
      </p:sp>
      <p:pic>
        <p:nvPicPr>
          <p:cNvPr id="17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WHAT'S IN IT FOR YOU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FBF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 stay the trusted voice. We do the underwriting.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10911535" cy="777240"/>
          </a:xfrm>
          <a:prstGeom prst="roundRect">
            <a:avLst>
              <a:gd name="adj" fmla="val 11765"/>
            </a:avLst>
          </a:prstGeom>
          <a:solidFill>
            <a:srgbClr val="1A1A1A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290572"/>
            <a:ext cx="402336" cy="402336"/>
          </a:xfrm>
          <a:prstGeom prst="ellipse">
            <a:avLst/>
          </a:prstGeom>
          <a:solidFill>
            <a:srgbClr val="BDE8F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2905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2103120"/>
            <a:ext cx="9768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real financing answer the moment a student is ready to make an offer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044952"/>
            <a:ext cx="10911535" cy="777240"/>
          </a:xfrm>
          <a:prstGeom prst="roundRect">
            <a:avLst>
              <a:gd name="adj" fmla="val 11765"/>
            </a:avLst>
          </a:prstGeom>
          <a:solidFill>
            <a:srgbClr val="1A1A1A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3232404"/>
            <a:ext cx="402336" cy="402336"/>
          </a:xfrm>
          <a:prstGeom prst="ellipse">
            <a:avLst/>
          </a:prstGeom>
          <a:solidFill>
            <a:srgbClr val="BDE8F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32324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508760" y="3044952"/>
            <a:ext cx="9768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Referral revenue with no added workload on your team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3986784"/>
            <a:ext cx="10911535" cy="777240"/>
          </a:xfrm>
          <a:prstGeom prst="roundRect">
            <a:avLst>
              <a:gd name="adj" fmla="val 11765"/>
            </a:avLst>
          </a:prstGeom>
          <a:solidFill>
            <a:srgbClr val="1A1A1A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4174236"/>
            <a:ext cx="402336" cy="402336"/>
          </a:xfrm>
          <a:prstGeom prst="ellipse">
            <a:avLst/>
          </a:prstGeom>
          <a:solidFill>
            <a:srgbClr val="BDE8F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41742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508760" y="3986784"/>
            <a:ext cx="9768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handles compliance, underwriting, and closing — you stay the face your students trust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4928616"/>
            <a:ext cx="10911535" cy="777240"/>
          </a:xfrm>
          <a:prstGeom prst="roundRect">
            <a:avLst>
              <a:gd name="adj" fmla="val 11765"/>
            </a:avLst>
          </a:prstGeom>
          <a:solidFill>
            <a:srgbClr val="1A1A1A"/>
          </a:solidFill>
          <a:ln/>
        </p:spPr>
      </p:sp>
      <p:sp>
        <p:nvSpPr>
          <p:cNvPr id="17" name="Shape 15"/>
          <p:cNvSpPr/>
          <p:nvPr/>
        </p:nvSpPr>
        <p:spPr>
          <a:xfrm>
            <a:off x="914400" y="5116068"/>
            <a:ext cx="402336" cy="402336"/>
          </a:xfrm>
          <a:prstGeom prst="ellipse">
            <a:avLst/>
          </a:prstGeom>
          <a:solidFill>
            <a:srgbClr val="BDE8F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14400" y="51160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508760" y="4928616"/>
            <a:ext cx="9768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First-mover positioning — no lender has claimed this seat inside your academy yet</a:t>
            </a:r>
            <a:endParaRPr lang="en-US" sz="1400" dirty="0"/>
          </a:p>
        </p:txBody>
      </p:sp>
      <p:pic>
        <p:nvPicPr>
          <p:cNvPr id="20" name="Image 0" descr="/home/user/STR/brand/logos/icon/Icon 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NEXT STEPS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Three steps to a pilot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10911535" cy="868680"/>
          </a:xfrm>
          <a:prstGeom prst="roundRect">
            <a:avLst>
              <a:gd name="adj" fmla="val 10526"/>
            </a:avLst>
          </a:prstGeom>
          <a:solidFill>
            <a:srgbClr val="F0EEF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057400"/>
            <a:ext cx="685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691640" y="2057400"/>
            <a:ext cx="95399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20-minute intro call — walk through how your students finance their first STR today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3108960"/>
            <a:ext cx="10911535" cy="868680"/>
          </a:xfrm>
          <a:prstGeom prst="roundRect">
            <a:avLst>
              <a:gd name="adj" fmla="val 10526"/>
            </a:avLst>
          </a:prstGeom>
          <a:solidFill>
            <a:srgbClr val="F0EEF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3108960"/>
            <a:ext cx="685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1691640" y="3108960"/>
            <a:ext cx="95399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 the partnership — preferred-lender placement, affiliate terms, or a co-built curriculum module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40080" y="4160520"/>
            <a:ext cx="10911535" cy="868680"/>
          </a:xfrm>
          <a:prstGeom prst="roundRect">
            <a:avLst>
              <a:gd name="adj" fmla="val 10526"/>
            </a:avLst>
          </a:prstGeom>
          <a:solidFill>
            <a:srgbClr val="F0EEF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14400" y="4160520"/>
            <a:ext cx="685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4160520"/>
            <a:ext cx="95399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it — a financing segment inside the next cohort, or a guest slot on your podcast circuit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5349240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Let's put that same track record to work — inside BNB Investor Academy.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BNB Investor Academy</a:t>
            </a:r>
            <a:endParaRPr lang="en-US" sz="1100" dirty="0"/>
          </a:p>
        </p:txBody>
      </p:sp>
      <p:pic>
        <p:nvPicPr>
          <p:cNvPr id="15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TR/brand/logos/full/Full 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2103120" cy="54926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210312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BF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Let's talk, Michael.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32004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BFA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Logan Reese Levy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5844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DE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Loan Officer · Cliffco Mortgage Bankers · NMLS #2502088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395020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[Logan's direct phone]  ·  [Logan's direct email]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431596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HQ: (516) 408-7300 · 70 Charles Lindbergh Blvd, Suite 200, Uniondale, NY 11553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89788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8A87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Cliffco, Inc. is not affiliated with or acting on behalf of the FHA or any government entity. Equal Housing Lender. Corporate NMLS #65328 (nmlsconsumeraccess.org). Logan Reese Levy, NMLS #2502088, licensed in AZ, CA, FL, MN, NC, NJ, NY, PA, SC, TN, VT. Not a commitment to lend; all loans subject to credit and underwriting approval.</a:t>
            </a:r>
            <a:endParaRPr lang="en-US" sz="950" dirty="0"/>
          </a:p>
        </p:txBody>
      </p:sp>
      <p:pic>
        <p:nvPicPr>
          <p:cNvPr id="9" name="Image 1" descr="/home/user/STR/brand/logos/EH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8695" y="5943600"/>
            <a:ext cx="502920" cy="48034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2026-10-15T17:54:30Z</dcterms:created>
  <dcterms:modified xsi:type="dcterms:W3CDTF">2026-10-15T17:54:30Z</dcterms:modified>
</cp:coreProperties>
</file>